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5484475" cy="8709025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7" d="100"/>
          <a:sy n="27" d="100"/>
        </p:scale>
        <p:origin x="10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323093-55D5-C061-4AFD-2E6B828BBE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5560" y="1425297"/>
            <a:ext cx="11613356" cy="3032031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6C5922-34A3-8199-75E7-C63BAF903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35560" y="4574255"/>
            <a:ext cx="11613356" cy="21026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89777-009A-7501-DA4F-DFA0AC575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3ED154-2DFF-8695-0184-3DB46C765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77E21-2689-9804-2D9B-3BE82A512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135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D81B3-1D09-1BCE-85D7-43B3B8D6A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C2A38-83F2-AB0D-31A8-B8BC1255BE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029ACB-B3B3-1F4C-72F9-E2C62964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8B0562-C69F-428E-8A3F-91DE43BDB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9E363-8699-5CED-9F7C-E485C9864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67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2D52B-331E-8441-78A2-6ECA7D711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6493" y="2171211"/>
            <a:ext cx="13355360" cy="3622712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1BB2FB-14C2-1DC1-1E4D-71BE40614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6493" y="5828195"/>
            <a:ext cx="13355360" cy="190509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B7FB07-6F2A-C592-A9BB-29D8D1F0BE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DE290A-E9B1-C822-9CC6-434E5238B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6CCB3A-8DC4-54F6-E598-74525B694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859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466CE-ED4B-123E-D123-B30B00B3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16A06-C8A0-2A65-8301-77C23DBA0A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64558" y="2318375"/>
            <a:ext cx="6580902" cy="552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FF6E7-392A-858E-2919-05C2FA7BD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39015" y="2318375"/>
            <a:ext cx="6580902" cy="552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75007-C49C-80EA-A91D-E69B8F40F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A5BD7-B061-E0CB-97C6-547771A59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5D1C0-908C-BC40-7AC5-407C00200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36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6E2E9-2A87-CCC3-2313-908D3785F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574" y="463677"/>
            <a:ext cx="13355360" cy="16833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5450A-2FAB-286D-1FDE-1E0800DC4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575" y="2134921"/>
            <a:ext cx="6550658" cy="104629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59529A-D78A-CE66-5519-8992CF726E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66575" y="3181213"/>
            <a:ext cx="6550658" cy="4679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7AF43A5-C7BD-3B4F-1EFE-CDA7B7AAD3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839016" y="2134921"/>
            <a:ext cx="6582919" cy="104629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B4478D-21F7-6AFB-A8A4-B4DC31BD6E6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839016" y="3181213"/>
            <a:ext cx="6582919" cy="467908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F3BEB7-F9E8-8310-27C6-1B91C8563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724B3-BB2D-6759-6C1C-2D014EC13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3EACBA-4192-E61B-473B-1073D4C89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830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3CE202-C8E1-D177-DFDE-C1E5FA587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A5B1AEC-E70E-0C0D-3343-75307F40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E0C01A-5A97-4479-E782-F1E747E8E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DDA30C-BB9A-77A1-56AA-954BE3F78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2368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9095D3-0727-E2B6-4172-62BAFF6D2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FC7CAF-60CD-F0ED-69A2-A6E272097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230F07-8A53-6CE5-CFD0-8A18E33EA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441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DA7C1-6D62-9227-514F-E36338C32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575" y="580602"/>
            <a:ext cx="4994146" cy="20321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626590-8189-F9B0-DDB8-EED26EA5E4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2920" y="1253940"/>
            <a:ext cx="7839015" cy="61890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710DFB-09F3-D799-D9C1-C966040C2B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575" y="2612707"/>
            <a:ext cx="4994146" cy="484036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1DD26-158A-5B45-0E31-F22256FCB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8A42CC-49BB-45A9-4B08-F849E5D3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A598C-6ABA-B087-F573-9015E5F3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0995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1E724-C6FF-61E0-EC25-DDE2B4E80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575" y="580602"/>
            <a:ext cx="4994146" cy="203210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B8F797-5CA4-D4C2-3258-CEB6253802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82920" y="1253940"/>
            <a:ext cx="7839015" cy="618905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76CBE0-F4E8-112E-9804-AA66165560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66575" y="2612707"/>
            <a:ext cx="4994146" cy="484036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F2BFE-3D0B-6565-C2D8-EBB7C387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E80C9-01BE-8614-0B62-CBB54DB27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042537-F9B1-B967-A546-6F3A1A857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59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8D48A-0A8D-A26A-E44C-C7BA2DA3B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4AFD95-92E0-5FB5-E3C5-85E4463E5D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64D2E6-40E4-5AF5-749B-792F418CA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689211-B7EA-9120-BACB-E3E0F0273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B2F65-F959-73AD-2FCE-51B95C1B3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9775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E24767-8650-9724-8958-437B5346D3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081077" y="463675"/>
            <a:ext cx="3338840" cy="738049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0AE2D5-2BE2-85BF-131A-2B495AECB7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64558" y="463675"/>
            <a:ext cx="9822964" cy="73804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C1AE7B-A388-F444-0D40-DF5623E04E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697957-3545-6878-2284-D039577F4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555086-3C1A-7B76-4033-2D3F3A06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04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319F5F-F424-E941-644F-5EA47E0EF5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558" y="463677"/>
            <a:ext cx="13355360" cy="16833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954250-D3F4-3DAB-8FD7-0654416569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4558" y="2318375"/>
            <a:ext cx="13355360" cy="55257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C3FA3-D4E2-E242-3ECF-64E169284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4559" y="8071978"/>
            <a:ext cx="3484007" cy="463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0E8C12-128C-4F5C-8406-C35CA0BE2C17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CEEEB-6AE3-F1CC-C7E2-AF236842F1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29233" y="8071978"/>
            <a:ext cx="5226010" cy="463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6B7B08-8B66-9B8D-F7F1-975AADEBD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35911" y="8071978"/>
            <a:ext cx="3484007" cy="4636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B76B22-2DAC-4480-B882-C14B96353B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849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32D8A-FF9E-1621-3863-D54803012DB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BB77F9-3A3D-7B0D-12E7-6C86633967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BB7F9B-AE70-78E1-D22A-1188FB4F02B2}"/>
              </a:ext>
            </a:extLst>
          </p:cNvPr>
          <p:cNvSpPr/>
          <p:nvPr/>
        </p:nvSpPr>
        <p:spPr>
          <a:xfrm>
            <a:off x="0" y="0"/>
            <a:ext cx="15483839" cy="152400"/>
          </a:xfrm>
          <a:prstGeom prst="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282A3D8-8451-004E-8F6A-53231816E87A}"/>
              </a:ext>
            </a:extLst>
          </p:cNvPr>
          <p:cNvSpPr/>
          <p:nvPr/>
        </p:nvSpPr>
        <p:spPr>
          <a:xfrm>
            <a:off x="5207000" y="1905000"/>
            <a:ext cx="5080000" cy="15240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CD958-8F7C-F56D-BCDE-BE753252C67D}"/>
              </a:ext>
            </a:extLst>
          </p:cNvPr>
          <p:cNvSpPr txBox="1"/>
          <p:nvPr/>
        </p:nvSpPr>
        <p:spPr>
          <a:xfrm>
            <a:off x="3302000" y="2413000"/>
            <a:ext cx="8890000" cy="9233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5400" b="1">
                <a:solidFill>
                  <a:srgbClr val="00529B"/>
                </a:solidFill>
                <a:latin typeface="Segoe UI" panose="020B0502040204020203" pitchFamily="34" charset="0"/>
              </a:rPr>
              <a:t>BTS School Manager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67DBEF-A5D7-7022-62DA-A2E6724F49EF}"/>
              </a:ext>
            </a:extLst>
          </p:cNvPr>
          <p:cNvSpPr txBox="1"/>
          <p:nvPr/>
        </p:nvSpPr>
        <p:spPr>
          <a:xfrm>
            <a:off x="3302000" y="3619500"/>
            <a:ext cx="8890000" cy="43088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2200" b="1">
                <a:solidFill>
                  <a:srgbClr val="263238"/>
                </a:solidFill>
                <a:latin typeface="Segoe UI" panose="020B0502040204020203" pitchFamily="34" charset="0"/>
              </a:rPr>
              <a:t>Full-Stack School Management System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2C6CAF-B7A6-C858-6AAF-3E8F7D3E12CF}"/>
              </a:ext>
            </a:extLst>
          </p:cNvPr>
          <p:cNvSpPr txBox="1"/>
          <p:nvPr/>
        </p:nvSpPr>
        <p:spPr>
          <a:xfrm>
            <a:off x="3302000" y="43180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3884C8"/>
                </a:solidFill>
                <a:latin typeface="Segoe UI" panose="020B0502040204020203" pitchFamily="34" charset="0"/>
              </a:rPr>
              <a:t>Laravel 12  .  Next.js 16  .  SQLite  .  REST API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D996C40-5271-83A7-6523-79D68D5F4ECD}"/>
              </a:ext>
            </a:extLst>
          </p:cNvPr>
          <p:cNvSpPr/>
          <p:nvPr/>
        </p:nvSpPr>
        <p:spPr>
          <a:xfrm>
            <a:off x="4445000" y="5207000"/>
            <a:ext cx="1778000" cy="1778000"/>
          </a:xfrm>
          <a:prstGeom prst="ellipse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System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27FA363-8B3E-75F5-04C0-FF2772D70095}"/>
              </a:ext>
            </a:extLst>
          </p:cNvPr>
          <p:cNvSpPr/>
          <p:nvPr/>
        </p:nvSpPr>
        <p:spPr>
          <a:xfrm>
            <a:off x="6604000" y="5207000"/>
            <a:ext cx="1778000" cy="17780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School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352F5AA-E276-A4ED-44E5-543D8422588E}"/>
              </a:ext>
            </a:extLst>
          </p:cNvPr>
          <p:cNvSpPr/>
          <p:nvPr/>
        </p:nvSpPr>
        <p:spPr>
          <a:xfrm>
            <a:off x="8763000" y="5207000"/>
            <a:ext cx="1778000" cy="1778000"/>
          </a:xfrm>
          <a:prstGeom prst="ellipse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Teacher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7924BB-D9C0-B7B1-698C-358BBCE29809}"/>
              </a:ext>
            </a:extLst>
          </p:cNvPr>
          <p:cNvSpPr/>
          <p:nvPr/>
        </p:nvSpPr>
        <p:spPr>
          <a:xfrm>
            <a:off x="10922000" y="5207000"/>
            <a:ext cx="1778000" cy="1778000"/>
          </a:xfrm>
          <a:prstGeom prst="ellipse">
            <a:avLst/>
          </a:prstGeom>
          <a:solidFill>
            <a:srgbClr val="FFB70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Student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E111AD-C53D-CE6F-C107-D8EED9637DEB}"/>
              </a:ext>
            </a:extLst>
          </p:cNvPr>
          <p:cNvSpPr txBox="1"/>
          <p:nvPr/>
        </p:nvSpPr>
        <p:spPr>
          <a:xfrm>
            <a:off x="4318000" y="7429500"/>
            <a:ext cx="6858000" cy="35394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700">
                <a:solidFill>
                  <a:srgbClr val="263238"/>
                </a:solidFill>
                <a:latin typeface="Segoe UI" panose="020B0502040204020203" pitchFamily="34" charset="0"/>
              </a:rPr>
              <a:t>System - School - Teacher - Student  roles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BC0643-6A40-557D-9096-757A80EBC880}"/>
              </a:ext>
            </a:extLst>
          </p:cNvPr>
          <p:cNvSpPr txBox="1"/>
          <p:nvPr/>
        </p:nvSpPr>
        <p:spPr>
          <a:xfrm>
            <a:off x="4318000" y="8128000"/>
            <a:ext cx="685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884C8"/>
                </a:solidFill>
                <a:latin typeface="Segoe UI" panose="020B0502040204020203" pitchFamily="34" charset="0"/>
              </a:rPr>
              <a:t>Lahcen Oufkir  . 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2756764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26B07-05FB-CC58-3AE5-0AB5BF4D9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1235D5-7D95-4B98-ECC9-F2DBC33F8B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1F638F-643C-79F2-D50F-CD3BD32B4087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0F1DB1-49E1-2441-599A-9CAE1FC4CABF}"/>
              </a:ext>
            </a:extLst>
          </p:cNvPr>
          <p:cNvSpPr txBox="1"/>
          <p:nvPr/>
        </p:nvSpPr>
        <p:spPr>
          <a:xfrm>
            <a:off x="1016000" y="762000"/>
            <a:ext cx="6350000" cy="61555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400" b="1">
                <a:solidFill>
                  <a:srgbClr val="00529B"/>
                </a:solidFill>
                <a:latin typeface="Segoe UI" panose="020B0502040204020203" pitchFamily="34" charset="0"/>
              </a:rPr>
              <a:t>Agenda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D8CEAF8-5D3D-2C4E-076E-5A10BC9C83C3}"/>
              </a:ext>
            </a:extLst>
          </p:cNvPr>
          <p:cNvSpPr txBox="1"/>
          <p:nvPr/>
        </p:nvSpPr>
        <p:spPr>
          <a:xfrm>
            <a:off x="1270000" y="1905000"/>
            <a:ext cx="889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263238"/>
                </a:solidFill>
                <a:latin typeface="Segoe UI" panose="020B0502040204020203" pitchFamily="34" charset="0"/>
              </a:rPr>
              <a:t>1 - System Overview and Architecture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00BDBF5-74A3-984F-7473-8857B6D6BF68}"/>
              </a:ext>
            </a:extLst>
          </p:cNvPr>
          <p:cNvSpPr/>
          <p:nvPr/>
        </p:nvSpPr>
        <p:spPr>
          <a:xfrm>
            <a:off x="1041400" y="2019300"/>
            <a:ext cx="152400" cy="1524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359BBB-4DFA-71FD-7F3D-E8B80AF4DD4A}"/>
              </a:ext>
            </a:extLst>
          </p:cNvPr>
          <p:cNvSpPr txBox="1"/>
          <p:nvPr/>
        </p:nvSpPr>
        <p:spPr>
          <a:xfrm>
            <a:off x="1270000" y="2565400"/>
            <a:ext cx="889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263238"/>
                </a:solidFill>
                <a:latin typeface="Segoe UI" panose="020B0502040204020203" pitchFamily="34" charset="0"/>
              </a:rPr>
              <a:t>2 - The 4 Roles and their Powers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E4B91F4-5BE7-D7A2-419A-B80AA0FFCE40}"/>
              </a:ext>
            </a:extLst>
          </p:cNvPr>
          <p:cNvSpPr/>
          <p:nvPr/>
        </p:nvSpPr>
        <p:spPr>
          <a:xfrm>
            <a:off x="1041400" y="2679700"/>
            <a:ext cx="152400" cy="1524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9AFFDB-6AD8-F29B-41B9-EBB5FA3E14E3}"/>
              </a:ext>
            </a:extLst>
          </p:cNvPr>
          <p:cNvSpPr txBox="1"/>
          <p:nvPr/>
        </p:nvSpPr>
        <p:spPr>
          <a:xfrm>
            <a:off x="1270000" y="3225800"/>
            <a:ext cx="889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263238"/>
                </a:solidFill>
                <a:latin typeface="Segoe UI" panose="020B0502040204020203" pitchFamily="34" charset="0"/>
              </a:rPr>
              <a:t>3 - Workflow: Onboarding a New School Year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A9B917-050A-BD66-9A84-F2E247CF0FEF}"/>
              </a:ext>
            </a:extLst>
          </p:cNvPr>
          <p:cNvSpPr/>
          <p:nvPr/>
        </p:nvSpPr>
        <p:spPr>
          <a:xfrm>
            <a:off x="1041400" y="3340100"/>
            <a:ext cx="152400" cy="1524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A2FBED-C805-C367-ABA1-0B9FEEB29EDB}"/>
              </a:ext>
            </a:extLst>
          </p:cNvPr>
          <p:cNvSpPr txBox="1"/>
          <p:nvPr/>
        </p:nvSpPr>
        <p:spPr>
          <a:xfrm>
            <a:off x="1270000" y="3886200"/>
            <a:ext cx="889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263238"/>
                </a:solidFill>
                <a:latin typeface="Segoe UI" panose="020B0502040204020203" pitchFamily="34" charset="0"/>
              </a:rPr>
              <a:t>4 - Workflow: Student Enrollment and Login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6BC0014-599B-63D1-7652-79D3CACC0EDC}"/>
              </a:ext>
            </a:extLst>
          </p:cNvPr>
          <p:cNvSpPr/>
          <p:nvPr/>
        </p:nvSpPr>
        <p:spPr>
          <a:xfrm>
            <a:off x="1041400" y="4000500"/>
            <a:ext cx="152400" cy="1524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61EE64-34D6-F65D-6E72-9607038EE2AC}"/>
              </a:ext>
            </a:extLst>
          </p:cNvPr>
          <p:cNvSpPr txBox="1"/>
          <p:nvPr/>
        </p:nvSpPr>
        <p:spPr>
          <a:xfrm>
            <a:off x="1270000" y="4546600"/>
            <a:ext cx="889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263238"/>
                </a:solidFill>
                <a:latin typeface="Segoe UI" panose="020B0502040204020203" pitchFamily="34" charset="0"/>
              </a:rPr>
              <a:t>5 - Workflow: Grades - Draft, Lock, Publish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2A0B325-027F-C34A-EDB5-B07DEBBE6118}"/>
              </a:ext>
            </a:extLst>
          </p:cNvPr>
          <p:cNvSpPr/>
          <p:nvPr/>
        </p:nvSpPr>
        <p:spPr>
          <a:xfrm>
            <a:off x="1041400" y="4660900"/>
            <a:ext cx="152400" cy="1524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C5171A-A317-6FEB-BD87-73D71A068C6D}"/>
              </a:ext>
            </a:extLst>
          </p:cNvPr>
          <p:cNvSpPr txBox="1"/>
          <p:nvPr/>
        </p:nvSpPr>
        <p:spPr>
          <a:xfrm>
            <a:off x="1270000" y="5207000"/>
            <a:ext cx="889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263238"/>
                </a:solidFill>
                <a:latin typeface="Segoe UI" panose="020B0502040204020203" pitchFamily="34" charset="0"/>
              </a:rPr>
              <a:t>6 - Workflow: Attendance Tracking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994B119-F34B-1D24-F529-09A26F453608}"/>
              </a:ext>
            </a:extLst>
          </p:cNvPr>
          <p:cNvSpPr/>
          <p:nvPr/>
        </p:nvSpPr>
        <p:spPr>
          <a:xfrm>
            <a:off x="1041400" y="5321300"/>
            <a:ext cx="152400" cy="1524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29FA11F-F647-81B1-C86E-90F85B5A7755}"/>
              </a:ext>
            </a:extLst>
          </p:cNvPr>
          <p:cNvSpPr txBox="1"/>
          <p:nvPr/>
        </p:nvSpPr>
        <p:spPr>
          <a:xfrm>
            <a:off x="1270000" y="5867400"/>
            <a:ext cx="889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263238"/>
                </a:solidFill>
                <a:latin typeface="Segoe UI" panose="020B0502040204020203" pitchFamily="34" charset="0"/>
              </a:rPr>
              <a:t>7 - Workflow: Communication and Notifications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EE152A0-0CBC-6968-E1C5-C4D05ADE4CA2}"/>
              </a:ext>
            </a:extLst>
          </p:cNvPr>
          <p:cNvSpPr/>
          <p:nvPr/>
        </p:nvSpPr>
        <p:spPr>
          <a:xfrm>
            <a:off x="1041400" y="5981700"/>
            <a:ext cx="152400" cy="1524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5D9F018-7321-6AC1-696E-A52AC3B6CE5A}"/>
              </a:ext>
            </a:extLst>
          </p:cNvPr>
          <p:cNvSpPr txBox="1"/>
          <p:nvPr/>
        </p:nvSpPr>
        <p:spPr>
          <a:xfrm>
            <a:off x="1270000" y="6527800"/>
            <a:ext cx="889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263238"/>
                </a:solidFill>
                <a:latin typeface="Segoe UI" panose="020B0502040204020203" pitchFamily="34" charset="0"/>
              </a:rPr>
              <a:t>8 - Workflow: Reports and Analytics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C3DCAC5-D3D3-89CA-F64B-648E12B6239E}"/>
              </a:ext>
            </a:extLst>
          </p:cNvPr>
          <p:cNvSpPr/>
          <p:nvPr/>
        </p:nvSpPr>
        <p:spPr>
          <a:xfrm>
            <a:off x="1041400" y="6642100"/>
            <a:ext cx="152400" cy="1524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C7A1773-658B-EF1F-26D6-7AA0226812F2}"/>
              </a:ext>
            </a:extLst>
          </p:cNvPr>
          <p:cNvSpPr txBox="1"/>
          <p:nvPr/>
        </p:nvSpPr>
        <p:spPr>
          <a:xfrm>
            <a:off x="1270000" y="7188200"/>
            <a:ext cx="8890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900">
                <a:solidFill>
                  <a:srgbClr val="263238"/>
                </a:solidFill>
                <a:latin typeface="Segoe UI" panose="020B0502040204020203" pitchFamily="34" charset="0"/>
              </a:rPr>
              <a:t>9 - Security and Data Model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265430C-DF92-145F-C851-B3327FFDDDD0}"/>
              </a:ext>
            </a:extLst>
          </p:cNvPr>
          <p:cNvSpPr/>
          <p:nvPr/>
        </p:nvSpPr>
        <p:spPr>
          <a:xfrm>
            <a:off x="1041400" y="7302500"/>
            <a:ext cx="152400" cy="1524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926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C6296-A084-C797-C51A-951C8145F1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1EA3A7-DCF5-AE7E-D2C3-57C2CCF982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627949E-F172-C081-E597-5E8C0595E616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7290BE-6590-A200-F0AB-27D7C4FA0C45}"/>
              </a:ext>
            </a:extLst>
          </p:cNvPr>
          <p:cNvSpPr txBox="1"/>
          <p:nvPr/>
        </p:nvSpPr>
        <p:spPr>
          <a:xfrm>
            <a:off x="1016000" y="571500"/>
            <a:ext cx="889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00529B"/>
                </a:solidFill>
                <a:latin typeface="Segoe UI" panose="020B0502040204020203" pitchFamily="34" charset="0"/>
              </a:rPr>
              <a:t>System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09564BD-0098-26EC-FDC7-DFFD3489E09D}"/>
              </a:ext>
            </a:extLst>
          </p:cNvPr>
          <p:cNvSpPr txBox="1"/>
          <p:nvPr/>
        </p:nvSpPr>
        <p:spPr>
          <a:xfrm>
            <a:off x="1016000" y="1143000"/>
            <a:ext cx="1143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>
                <a:solidFill>
                  <a:srgbClr val="263238"/>
                </a:solidFill>
                <a:latin typeface="Segoe UI" panose="020B0502040204020203" pitchFamily="34" charset="0"/>
              </a:rPr>
              <a:t>Three clear tiers - from browser to database.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CA65C1A-5E61-FEE8-2669-4EA46AC70127}"/>
              </a:ext>
            </a:extLst>
          </p:cNvPr>
          <p:cNvSpPr/>
          <p:nvPr/>
        </p:nvSpPr>
        <p:spPr>
          <a:xfrm>
            <a:off x="1016000" y="1778000"/>
            <a:ext cx="2794000" cy="1016000"/>
          </a:xfrm>
          <a:prstGeom prst="roundRect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00529B"/>
                </a:solidFill>
                <a:latin typeface="Segoe UI" panose="020B0502040204020203" pitchFamily="34" charset="0"/>
              </a:rPr>
              <a:t>Next.js Frontend
Port 3000
React - TS - i18n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BFB9BE0-1DE7-51B8-1801-32A3C5163E4C}"/>
              </a:ext>
            </a:extLst>
          </p:cNvPr>
          <p:cNvCxnSpPr/>
          <p:nvPr/>
        </p:nvCxnSpPr>
        <p:spPr>
          <a:xfrm>
            <a:off x="3810000" y="2286000"/>
            <a:ext cx="762000" cy="0"/>
          </a:xfrm>
          <a:prstGeom prst="line">
            <a:avLst/>
          </a:prstGeom>
          <a:ln w="381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4DD613-555C-3DF0-D874-E8B1EC425644}"/>
              </a:ext>
            </a:extLst>
          </p:cNvPr>
          <p:cNvSpPr/>
          <p:nvPr/>
        </p:nvSpPr>
        <p:spPr>
          <a:xfrm>
            <a:off x="5969000" y="1651000"/>
            <a:ext cx="3810000" cy="1270000"/>
          </a:xfrm>
          <a:prstGeom prst="round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Laravel REST API
/api/v1 - Sanctum auth
RBAC permissions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7043C13-A419-E2CA-2FB7-DF5774095BDC}"/>
              </a:ext>
            </a:extLst>
          </p:cNvPr>
          <p:cNvSpPr txBox="1"/>
          <p:nvPr/>
        </p:nvSpPr>
        <p:spPr>
          <a:xfrm>
            <a:off x="5969000" y="3048000"/>
            <a:ext cx="3810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3884C8"/>
                </a:solidFill>
                <a:latin typeface="Segoe UI" panose="020B0502040204020203" pitchFamily="34" charset="0"/>
              </a:rPr>
              <a:t>Nginx / PHP-FPM - Herd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F626AAC-B794-D30F-4DA4-5EA87F3C2F7B}"/>
              </a:ext>
            </a:extLst>
          </p:cNvPr>
          <p:cNvCxnSpPr/>
          <p:nvPr/>
        </p:nvCxnSpPr>
        <p:spPr>
          <a:xfrm>
            <a:off x="9779000" y="2286000"/>
            <a:ext cx="762000" cy="0"/>
          </a:xfrm>
          <a:prstGeom prst="line">
            <a:avLst/>
          </a:prstGeom>
          <a:ln w="381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2BEE6014-89B2-A3C6-6BD1-B61DAEEC8876}"/>
              </a:ext>
            </a:extLst>
          </p:cNvPr>
          <p:cNvSpPr/>
          <p:nvPr/>
        </p:nvSpPr>
        <p:spPr>
          <a:xfrm>
            <a:off x="12065000" y="1651000"/>
            <a:ext cx="2413000" cy="101600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fr-FR" sz="1500" b="1">
                <a:solidFill>
                  <a:srgbClr val="FFFFFF"/>
                </a:solidFill>
                <a:latin typeface="Segoe UI" panose="020B0502040204020203" pitchFamily="34" charset="0"/>
              </a:rPr>
              <a:t>SQLite
30 migrations
Eloquent ORM</a:t>
            </a:r>
            <a:endParaRPr lang="en-US" sz="15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C06973-A104-02AF-8974-21B475FBFA2E}"/>
              </a:ext>
            </a:extLst>
          </p:cNvPr>
          <p:cNvSpPr txBox="1"/>
          <p:nvPr/>
        </p:nvSpPr>
        <p:spPr>
          <a:xfrm>
            <a:off x="12065000" y="2794000"/>
            <a:ext cx="2413000" cy="2616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100">
                <a:solidFill>
                  <a:srgbClr val="00A99D"/>
                </a:solidFill>
                <a:latin typeface="Segoe UI" panose="020B0502040204020203" pitchFamily="34" charset="0"/>
              </a:rPr>
              <a:t>Seeded demo data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0D172E-3E8F-9162-E24C-F4403FAA8957}"/>
              </a:ext>
            </a:extLst>
          </p:cNvPr>
          <p:cNvSpPr txBox="1"/>
          <p:nvPr/>
        </p:nvSpPr>
        <p:spPr>
          <a:xfrm>
            <a:off x="1016000" y="3810000"/>
            <a:ext cx="1270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Capabilities: auth, roles and permissions, students, teachers, classes, grades,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F8EFB8F-EA65-8B4F-D8E7-498EF1F1201C}"/>
              </a:ext>
            </a:extLst>
          </p:cNvPr>
          <p:cNvSpPr txBox="1"/>
          <p:nvPr/>
        </p:nvSpPr>
        <p:spPr>
          <a:xfrm>
            <a:off x="1016000" y="4165600"/>
            <a:ext cx="1270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attendance, schedules, announcements, notifications, documents and live reports.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E2ECA6-D695-01E4-48E7-091B0ADD46D2}"/>
              </a:ext>
            </a:extLst>
          </p:cNvPr>
          <p:cNvSpPr txBox="1"/>
          <p:nvPr/>
        </p:nvSpPr>
        <p:spPr>
          <a:xfrm>
            <a:off x="1016000" y="4826000"/>
            <a:ext cx="381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0529B"/>
                </a:solidFill>
                <a:latin typeface="Segoe UI" panose="020B0502040204020203" pitchFamily="34" charset="0"/>
              </a:rPr>
              <a:t>Core data model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FDA131-FB5A-7CCC-54A0-C16A2F536E2B}"/>
              </a:ext>
            </a:extLst>
          </p:cNvPr>
          <p:cNvSpPr/>
          <p:nvPr/>
        </p:nvSpPr>
        <p:spPr>
          <a:xfrm>
            <a:off x="1016000" y="52070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users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5F7C1B4-C69B-C46D-67CE-1B263B8D3210}"/>
              </a:ext>
            </a:extLst>
          </p:cNvPr>
          <p:cNvSpPr/>
          <p:nvPr/>
        </p:nvSpPr>
        <p:spPr>
          <a:xfrm>
            <a:off x="3111500" y="52070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roles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92E6EE-9C93-666F-A80A-75F209B71716}"/>
              </a:ext>
            </a:extLst>
          </p:cNvPr>
          <p:cNvSpPr/>
          <p:nvPr/>
        </p:nvSpPr>
        <p:spPr>
          <a:xfrm>
            <a:off x="5207000" y="52070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permissions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725F283-16A3-D569-9132-769C2C4FAF30}"/>
              </a:ext>
            </a:extLst>
          </p:cNvPr>
          <p:cNvSpPr/>
          <p:nvPr/>
        </p:nvSpPr>
        <p:spPr>
          <a:xfrm>
            <a:off x="7302500" y="52070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schools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E0C9B2D-6EA9-16EF-C8B5-E444A3A626A1}"/>
              </a:ext>
            </a:extLst>
          </p:cNvPr>
          <p:cNvSpPr/>
          <p:nvPr/>
        </p:nvSpPr>
        <p:spPr>
          <a:xfrm>
            <a:off x="9398000" y="52070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academic_years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037B0D-48B2-4297-1216-0EE8D6A823BD}"/>
              </a:ext>
            </a:extLst>
          </p:cNvPr>
          <p:cNvSpPr/>
          <p:nvPr/>
        </p:nvSpPr>
        <p:spPr>
          <a:xfrm>
            <a:off x="11493500" y="52070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programs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F562A59-008B-BFA7-5A85-4858E3159D92}"/>
              </a:ext>
            </a:extLst>
          </p:cNvPr>
          <p:cNvSpPr/>
          <p:nvPr/>
        </p:nvSpPr>
        <p:spPr>
          <a:xfrm>
            <a:off x="1016000" y="57912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classes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AEC357-5A0B-38BE-4DEC-31762FD30AD3}"/>
              </a:ext>
            </a:extLst>
          </p:cNvPr>
          <p:cNvSpPr/>
          <p:nvPr/>
        </p:nvSpPr>
        <p:spPr>
          <a:xfrm>
            <a:off x="3111500" y="57912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subjects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C309D5F-4229-F5DF-8E06-0DE1BCBEAD2A}"/>
              </a:ext>
            </a:extLst>
          </p:cNvPr>
          <p:cNvSpPr/>
          <p:nvPr/>
        </p:nvSpPr>
        <p:spPr>
          <a:xfrm>
            <a:off x="5207000" y="57912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students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5750286-09F8-5C3D-2957-0C7404DD912E}"/>
              </a:ext>
            </a:extLst>
          </p:cNvPr>
          <p:cNvSpPr/>
          <p:nvPr/>
        </p:nvSpPr>
        <p:spPr>
          <a:xfrm>
            <a:off x="7302500" y="57912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teachers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EA999A-2F5A-117B-8C18-9884E4CD3BE0}"/>
              </a:ext>
            </a:extLst>
          </p:cNvPr>
          <p:cNvSpPr/>
          <p:nvPr/>
        </p:nvSpPr>
        <p:spPr>
          <a:xfrm>
            <a:off x="9398000" y="57912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enrollments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2A4EFF-8695-4CFD-2168-735101C33BBC}"/>
              </a:ext>
            </a:extLst>
          </p:cNvPr>
          <p:cNvSpPr/>
          <p:nvPr/>
        </p:nvSpPr>
        <p:spPr>
          <a:xfrm>
            <a:off x="11493500" y="57912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assessments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6708AE0-C9BE-FBF1-40B5-F12D0DF10D4C}"/>
              </a:ext>
            </a:extLst>
          </p:cNvPr>
          <p:cNvSpPr/>
          <p:nvPr/>
        </p:nvSpPr>
        <p:spPr>
          <a:xfrm>
            <a:off x="1016000" y="63754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grades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417B7D-B000-5F23-FE72-2921097EF111}"/>
              </a:ext>
            </a:extLst>
          </p:cNvPr>
          <p:cNvSpPr/>
          <p:nvPr/>
        </p:nvSpPr>
        <p:spPr>
          <a:xfrm>
            <a:off x="3111500" y="63754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attendance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8359F8C-7A36-6AFA-6C74-9197B77B1792}"/>
              </a:ext>
            </a:extLst>
          </p:cNvPr>
          <p:cNvSpPr/>
          <p:nvPr/>
        </p:nvSpPr>
        <p:spPr>
          <a:xfrm>
            <a:off x="5207000" y="63754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schedules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6EA986F-8408-D8C8-FA7A-47D7053E8FC6}"/>
              </a:ext>
            </a:extLst>
          </p:cNvPr>
          <p:cNvSpPr/>
          <p:nvPr/>
        </p:nvSpPr>
        <p:spPr>
          <a:xfrm>
            <a:off x="7302500" y="63754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announcements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3800459-E690-7D06-C498-13259C26FCE1}"/>
              </a:ext>
            </a:extLst>
          </p:cNvPr>
          <p:cNvSpPr/>
          <p:nvPr/>
        </p:nvSpPr>
        <p:spPr>
          <a:xfrm>
            <a:off x="9398000" y="63754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notifications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C469D53-C2A2-CEEA-81DA-15B634A1E610}"/>
              </a:ext>
            </a:extLst>
          </p:cNvPr>
          <p:cNvSpPr/>
          <p:nvPr/>
        </p:nvSpPr>
        <p:spPr>
          <a:xfrm>
            <a:off x="11493500" y="6375400"/>
            <a:ext cx="1905000" cy="431800"/>
          </a:xfrm>
          <a:prstGeom prst="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documents</a:t>
            </a:r>
          </a:p>
        </p:txBody>
      </p:sp>
    </p:spTree>
    <p:extLst>
      <p:ext uri="{BB962C8B-B14F-4D97-AF65-F5344CB8AC3E}">
        <p14:creationId xmlns:p14="http://schemas.microsoft.com/office/powerpoint/2010/main" val="10822429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125DF-6DA9-66BA-21A2-D716C481B0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1A8C6E-4CFF-030E-9B7B-803B384340C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3FDD289-E827-2AAE-243C-D3FF4A1F165B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832CEB3-561D-B24E-9103-01470D6F0220}"/>
              </a:ext>
            </a:extLst>
          </p:cNvPr>
          <p:cNvSpPr txBox="1"/>
          <p:nvPr/>
        </p:nvSpPr>
        <p:spPr>
          <a:xfrm>
            <a:off x="1016000" y="571500"/>
            <a:ext cx="889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00529B"/>
                </a:solidFill>
                <a:latin typeface="Segoe UI" panose="020B0502040204020203" pitchFamily="34" charset="0"/>
              </a:rPr>
              <a:t>The 4 Roles and their Powers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88D4CA-C5E1-4781-944D-D1275BCCF306}"/>
              </a:ext>
            </a:extLst>
          </p:cNvPr>
          <p:cNvSpPr txBox="1"/>
          <p:nvPr/>
        </p:nvSpPr>
        <p:spPr>
          <a:xfrm>
            <a:off x="1016000" y="1143000"/>
            <a:ext cx="1397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Every action is controlled by RBAC permissions (module.action), enforced on all endpoint groups.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4F6799D-60D8-8AE0-6A85-71DA1C9DADEF}"/>
              </a:ext>
            </a:extLst>
          </p:cNvPr>
          <p:cNvSpPr/>
          <p:nvPr/>
        </p:nvSpPr>
        <p:spPr>
          <a:xfrm>
            <a:off x="1016000" y="1651000"/>
            <a:ext cx="3429000" cy="4572000"/>
          </a:xfrm>
          <a:prstGeom prst="round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admin_system
Super Admin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87420D2-9C12-DE76-298B-43F360E5DAEB}"/>
              </a:ext>
            </a:extLst>
          </p:cNvPr>
          <p:cNvSpPr txBox="1"/>
          <p:nvPr/>
        </p:nvSpPr>
        <p:spPr>
          <a:xfrm>
            <a:off x="1270000" y="2794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All schools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404181-22C5-AC36-258B-28BE4C17533E}"/>
              </a:ext>
            </a:extLst>
          </p:cNvPr>
          <p:cNvSpPr/>
          <p:nvPr/>
        </p:nvSpPr>
        <p:spPr>
          <a:xfrm>
            <a:off x="1270000" y="3124200"/>
            <a:ext cx="2921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F4F5537-344E-7E39-4FDB-04299F584BB8}"/>
              </a:ext>
            </a:extLst>
          </p:cNvPr>
          <p:cNvSpPr/>
          <p:nvPr/>
        </p:nvSpPr>
        <p:spPr>
          <a:xfrm>
            <a:off x="1270000" y="3124200"/>
            <a:ext cx="2921000" cy="177800"/>
          </a:xfrm>
          <a:prstGeom prst="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E25997B-A61C-90B2-1C7B-2D9B1C0A1DDE}"/>
              </a:ext>
            </a:extLst>
          </p:cNvPr>
          <p:cNvSpPr txBox="1"/>
          <p:nvPr/>
        </p:nvSpPr>
        <p:spPr>
          <a:xfrm>
            <a:off x="4318000" y="3073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00A99D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42ECF6-A239-0061-CC31-A571908E7829}"/>
              </a:ext>
            </a:extLst>
          </p:cNvPr>
          <p:cNvSpPr txBox="1"/>
          <p:nvPr/>
        </p:nvSpPr>
        <p:spPr>
          <a:xfrm>
            <a:off x="1270000" y="342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Users and roles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6DA1B7-D654-489C-C61A-4C2C9813C6DC}"/>
              </a:ext>
            </a:extLst>
          </p:cNvPr>
          <p:cNvSpPr/>
          <p:nvPr/>
        </p:nvSpPr>
        <p:spPr>
          <a:xfrm>
            <a:off x="1270000" y="3759200"/>
            <a:ext cx="2921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83B7B4-CA1C-EAAD-A5E9-54AA5C120401}"/>
              </a:ext>
            </a:extLst>
          </p:cNvPr>
          <p:cNvSpPr/>
          <p:nvPr/>
        </p:nvSpPr>
        <p:spPr>
          <a:xfrm>
            <a:off x="1270000" y="3759200"/>
            <a:ext cx="2921000" cy="177800"/>
          </a:xfrm>
          <a:prstGeom prst="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41CE9FA-D3D3-9066-A597-0126FF20C0D7}"/>
              </a:ext>
            </a:extLst>
          </p:cNvPr>
          <p:cNvSpPr txBox="1"/>
          <p:nvPr/>
        </p:nvSpPr>
        <p:spPr>
          <a:xfrm>
            <a:off x="4318000" y="3708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00A99D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6374A4-A805-ECD5-6E69-63009BE99C59}"/>
              </a:ext>
            </a:extLst>
          </p:cNvPr>
          <p:cNvSpPr txBox="1"/>
          <p:nvPr/>
        </p:nvSpPr>
        <p:spPr>
          <a:xfrm>
            <a:off x="1270000" y="4064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All modules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B211B4F-13B5-42EC-36F6-CBBFD056F4F1}"/>
              </a:ext>
            </a:extLst>
          </p:cNvPr>
          <p:cNvSpPr/>
          <p:nvPr/>
        </p:nvSpPr>
        <p:spPr>
          <a:xfrm>
            <a:off x="1270000" y="4394200"/>
            <a:ext cx="2921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5C97B40-A42F-A728-5EA4-D613A256AF3C}"/>
              </a:ext>
            </a:extLst>
          </p:cNvPr>
          <p:cNvSpPr/>
          <p:nvPr/>
        </p:nvSpPr>
        <p:spPr>
          <a:xfrm>
            <a:off x="1270000" y="4394200"/>
            <a:ext cx="2921000" cy="177800"/>
          </a:xfrm>
          <a:prstGeom prst="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7126836-8357-4667-4E04-4809E1EC12E7}"/>
              </a:ext>
            </a:extLst>
          </p:cNvPr>
          <p:cNvSpPr txBox="1"/>
          <p:nvPr/>
        </p:nvSpPr>
        <p:spPr>
          <a:xfrm>
            <a:off x="4318000" y="4343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00A99D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5C2E998-C6A8-55A4-74D4-3E1DB9EE7EDC}"/>
              </a:ext>
            </a:extLst>
          </p:cNvPr>
          <p:cNvSpPr txBox="1"/>
          <p:nvPr/>
        </p:nvSpPr>
        <p:spPr>
          <a:xfrm>
            <a:off x="1270000" y="469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Reports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23F08D-FEAA-2DB5-3F77-F738F66BEF74}"/>
              </a:ext>
            </a:extLst>
          </p:cNvPr>
          <p:cNvSpPr/>
          <p:nvPr/>
        </p:nvSpPr>
        <p:spPr>
          <a:xfrm>
            <a:off x="1270000" y="5029200"/>
            <a:ext cx="2921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19E39E5-16C2-9E44-E35E-A288C56E1AC3}"/>
              </a:ext>
            </a:extLst>
          </p:cNvPr>
          <p:cNvSpPr/>
          <p:nvPr/>
        </p:nvSpPr>
        <p:spPr>
          <a:xfrm>
            <a:off x="1270000" y="5029200"/>
            <a:ext cx="2921000" cy="177800"/>
          </a:xfrm>
          <a:prstGeom prst="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AD6615-D0C5-38E5-61EE-60935807780C}"/>
              </a:ext>
            </a:extLst>
          </p:cNvPr>
          <p:cNvSpPr txBox="1"/>
          <p:nvPr/>
        </p:nvSpPr>
        <p:spPr>
          <a:xfrm>
            <a:off x="4318000" y="4978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00A99D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691222D-BB65-98E3-C0E7-08E3904CB382}"/>
              </a:ext>
            </a:extLst>
          </p:cNvPr>
          <p:cNvSpPr txBox="1"/>
          <p:nvPr/>
        </p:nvSpPr>
        <p:spPr>
          <a:xfrm>
            <a:off x="1270000" y="5334000"/>
            <a:ext cx="279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Cross-school visibility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65AD97E-2753-B6A4-9574-327C6D684262}"/>
              </a:ext>
            </a:extLst>
          </p:cNvPr>
          <p:cNvSpPr/>
          <p:nvPr/>
        </p:nvSpPr>
        <p:spPr>
          <a:xfrm>
            <a:off x="4826000" y="1651000"/>
            <a:ext cx="3429000" cy="457200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admin_establishment
School Admin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16398F7-71DB-4D1C-BA21-F7A5016F0CA0}"/>
              </a:ext>
            </a:extLst>
          </p:cNvPr>
          <p:cNvSpPr txBox="1"/>
          <p:nvPr/>
        </p:nvSpPr>
        <p:spPr>
          <a:xfrm>
            <a:off x="5080000" y="2794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Own school only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4EA92EB-81C7-810E-32EF-0463A7AC8B3C}"/>
              </a:ext>
            </a:extLst>
          </p:cNvPr>
          <p:cNvSpPr/>
          <p:nvPr/>
        </p:nvSpPr>
        <p:spPr>
          <a:xfrm>
            <a:off x="5080000" y="3124200"/>
            <a:ext cx="2921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0A573AC-8B14-341B-F8A0-2CF58EC71629}"/>
              </a:ext>
            </a:extLst>
          </p:cNvPr>
          <p:cNvSpPr/>
          <p:nvPr/>
        </p:nvSpPr>
        <p:spPr>
          <a:xfrm>
            <a:off x="5080000" y="3124200"/>
            <a:ext cx="2921000" cy="177800"/>
          </a:xfrm>
          <a:prstGeom prst="rect">
            <a:avLst/>
          </a:prstGeom>
          <a:solidFill>
            <a:srgbClr val="3884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AD7B95B-E22E-E3D8-69DF-6DD0915A47AA}"/>
              </a:ext>
            </a:extLst>
          </p:cNvPr>
          <p:cNvSpPr txBox="1"/>
          <p:nvPr/>
        </p:nvSpPr>
        <p:spPr>
          <a:xfrm>
            <a:off x="8128000" y="3073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3884C8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A4244B0-0C52-6C09-BCFC-C163AAE146D1}"/>
              </a:ext>
            </a:extLst>
          </p:cNvPr>
          <p:cNvSpPr txBox="1"/>
          <p:nvPr/>
        </p:nvSpPr>
        <p:spPr>
          <a:xfrm>
            <a:off x="5080000" y="342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Students and classes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132FA7A-0344-CAD5-2013-F3C47E8BDFDC}"/>
              </a:ext>
            </a:extLst>
          </p:cNvPr>
          <p:cNvSpPr/>
          <p:nvPr/>
        </p:nvSpPr>
        <p:spPr>
          <a:xfrm>
            <a:off x="5080000" y="3759200"/>
            <a:ext cx="2921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2F950FF3-DB9B-7F1A-06B2-770B290755C2}"/>
              </a:ext>
            </a:extLst>
          </p:cNvPr>
          <p:cNvSpPr/>
          <p:nvPr/>
        </p:nvSpPr>
        <p:spPr>
          <a:xfrm>
            <a:off x="5080000" y="3759200"/>
            <a:ext cx="2921000" cy="177800"/>
          </a:xfrm>
          <a:prstGeom prst="rect">
            <a:avLst/>
          </a:prstGeom>
          <a:solidFill>
            <a:srgbClr val="3884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3B4746D-39BA-7E70-BE1D-48DB109575BE}"/>
              </a:ext>
            </a:extLst>
          </p:cNvPr>
          <p:cNvSpPr txBox="1"/>
          <p:nvPr/>
        </p:nvSpPr>
        <p:spPr>
          <a:xfrm>
            <a:off x="8128000" y="3708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3884C8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A5E67B9-7D0D-B886-B2E4-08610412EFA7}"/>
              </a:ext>
            </a:extLst>
          </p:cNvPr>
          <p:cNvSpPr txBox="1"/>
          <p:nvPr/>
        </p:nvSpPr>
        <p:spPr>
          <a:xfrm>
            <a:off x="5080000" y="4064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Teachers and grades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DDC7499-F2CC-8735-1693-864A5737BB36}"/>
              </a:ext>
            </a:extLst>
          </p:cNvPr>
          <p:cNvSpPr/>
          <p:nvPr/>
        </p:nvSpPr>
        <p:spPr>
          <a:xfrm>
            <a:off x="5080000" y="4394200"/>
            <a:ext cx="2921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375D32F-96EB-3F22-06AC-FB6185464598}"/>
              </a:ext>
            </a:extLst>
          </p:cNvPr>
          <p:cNvSpPr/>
          <p:nvPr/>
        </p:nvSpPr>
        <p:spPr>
          <a:xfrm>
            <a:off x="5080000" y="4394200"/>
            <a:ext cx="2921000" cy="177800"/>
          </a:xfrm>
          <a:prstGeom prst="rect">
            <a:avLst/>
          </a:prstGeom>
          <a:solidFill>
            <a:srgbClr val="3884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142FCBF2-C6E7-C478-5376-21F6CA731D21}"/>
              </a:ext>
            </a:extLst>
          </p:cNvPr>
          <p:cNvSpPr txBox="1"/>
          <p:nvPr/>
        </p:nvSpPr>
        <p:spPr>
          <a:xfrm>
            <a:off x="8128000" y="4343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3884C8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DC6B1FE-D7F7-3FA4-9D02-6F3CBB62C696}"/>
              </a:ext>
            </a:extLst>
          </p:cNvPr>
          <p:cNvSpPr txBox="1"/>
          <p:nvPr/>
        </p:nvSpPr>
        <p:spPr>
          <a:xfrm>
            <a:off x="5080000" y="469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Attendance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BBF8A06-2847-9D68-2362-2C9DF0612D3E}"/>
              </a:ext>
            </a:extLst>
          </p:cNvPr>
          <p:cNvSpPr/>
          <p:nvPr/>
        </p:nvSpPr>
        <p:spPr>
          <a:xfrm>
            <a:off x="5080000" y="5029200"/>
            <a:ext cx="2921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EAEBC11-D990-9810-F87E-21D81DEE93D5}"/>
              </a:ext>
            </a:extLst>
          </p:cNvPr>
          <p:cNvSpPr/>
          <p:nvPr/>
        </p:nvSpPr>
        <p:spPr>
          <a:xfrm>
            <a:off x="5080000" y="5029200"/>
            <a:ext cx="2921000" cy="177800"/>
          </a:xfrm>
          <a:prstGeom prst="rect">
            <a:avLst/>
          </a:prstGeom>
          <a:solidFill>
            <a:srgbClr val="3884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09705DFD-AA95-399F-6757-EEE6A5B9E824}"/>
              </a:ext>
            </a:extLst>
          </p:cNvPr>
          <p:cNvSpPr txBox="1"/>
          <p:nvPr/>
        </p:nvSpPr>
        <p:spPr>
          <a:xfrm>
            <a:off x="8128000" y="4978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3884C8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57CEF84-1CDD-013D-4882-D06775E04357}"/>
              </a:ext>
            </a:extLst>
          </p:cNvPr>
          <p:cNvSpPr txBox="1"/>
          <p:nvPr/>
        </p:nvSpPr>
        <p:spPr>
          <a:xfrm>
            <a:off x="5080000" y="5334000"/>
            <a:ext cx="279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Scoped to their school_id</a:t>
            </a:r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065D1A27-A72B-A483-5691-2FA9F5EA8484}"/>
              </a:ext>
            </a:extLst>
          </p:cNvPr>
          <p:cNvSpPr/>
          <p:nvPr/>
        </p:nvSpPr>
        <p:spPr>
          <a:xfrm>
            <a:off x="8636000" y="1651000"/>
            <a:ext cx="3175000" cy="4572000"/>
          </a:xfrm>
          <a:prstGeom prst="round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teacher
Faculty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D5E3956-07D9-FE3D-6DBF-08C80C170286}"/>
              </a:ext>
            </a:extLst>
          </p:cNvPr>
          <p:cNvSpPr txBox="1"/>
          <p:nvPr/>
        </p:nvSpPr>
        <p:spPr>
          <a:xfrm>
            <a:off x="8890000" y="2794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View students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2E5EE8AB-0CD8-8E16-AC17-53ECC67D1BCE}"/>
              </a:ext>
            </a:extLst>
          </p:cNvPr>
          <p:cNvSpPr/>
          <p:nvPr/>
        </p:nvSpPr>
        <p:spPr>
          <a:xfrm>
            <a:off x="8890000" y="3124200"/>
            <a:ext cx="2667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7BE1BB5D-7744-A2A2-6FEE-43313F8014A7}"/>
              </a:ext>
            </a:extLst>
          </p:cNvPr>
          <p:cNvSpPr/>
          <p:nvPr/>
        </p:nvSpPr>
        <p:spPr>
          <a:xfrm>
            <a:off x="8890000" y="3124200"/>
            <a:ext cx="2667000" cy="177800"/>
          </a:xfrm>
          <a:prstGeom prst="rect">
            <a:avLst/>
          </a:prstGeom>
          <a:solidFill>
            <a:srgbClr val="2632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152D089-4D93-87AC-B8F2-221091FEEDBF}"/>
              </a:ext>
            </a:extLst>
          </p:cNvPr>
          <p:cNvSpPr txBox="1"/>
          <p:nvPr/>
        </p:nvSpPr>
        <p:spPr>
          <a:xfrm>
            <a:off x="11684000" y="3073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7245D4F-A381-1101-2612-684E40D742FC}"/>
              </a:ext>
            </a:extLst>
          </p:cNvPr>
          <p:cNvSpPr txBox="1"/>
          <p:nvPr/>
        </p:nvSpPr>
        <p:spPr>
          <a:xfrm>
            <a:off x="8890000" y="342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Create grades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827B8497-756E-4F87-CA38-78C937E1FF72}"/>
              </a:ext>
            </a:extLst>
          </p:cNvPr>
          <p:cNvSpPr/>
          <p:nvPr/>
        </p:nvSpPr>
        <p:spPr>
          <a:xfrm>
            <a:off x="8890000" y="3759200"/>
            <a:ext cx="2667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42BE5D11-74BE-F721-B84C-28C8F1BE22A4}"/>
              </a:ext>
            </a:extLst>
          </p:cNvPr>
          <p:cNvSpPr/>
          <p:nvPr/>
        </p:nvSpPr>
        <p:spPr>
          <a:xfrm>
            <a:off x="8890000" y="3759200"/>
            <a:ext cx="2667000" cy="177800"/>
          </a:xfrm>
          <a:prstGeom prst="rect">
            <a:avLst/>
          </a:prstGeom>
          <a:solidFill>
            <a:srgbClr val="2632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B747F67-3D6B-902A-11C0-CD7E23AD03E9}"/>
              </a:ext>
            </a:extLst>
          </p:cNvPr>
          <p:cNvSpPr txBox="1"/>
          <p:nvPr/>
        </p:nvSpPr>
        <p:spPr>
          <a:xfrm>
            <a:off x="11684000" y="3708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9DA06C6-AD8F-BB69-9362-E8DC8EB76133}"/>
              </a:ext>
            </a:extLst>
          </p:cNvPr>
          <p:cNvSpPr txBox="1"/>
          <p:nvPr/>
        </p:nvSpPr>
        <p:spPr>
          <a:xfrm>
            <a:off x="8890000" y="4064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Take attendance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AFE4120-BF1D-A642-236B-49E2EB0B8D69}"/>
              </a:ext>
            </a:extLst>
          </p:cNvPr>
          <p:cNvSpPr/>
          <p:nvPr/>
        </p:nvSpPr>
        <p:spPr>
          <a:xfrm>
            <a:off x="8890000" y="4394200"/>
            <a:ext cx="2667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7E237050-BD5A-F413-E2C6-3FFF36232E9B}"/>
              </a:ext>
            </a:extLst>
          </p:cNvPr>
          <p:cNvSpPr/>
          <p:nvPr/>
        </p:nvSpPr>
        <p:spPr>
          <a:xfrm>
            <a:off x="8890000" y="4394200"/>
            <a:ext cx="2667000" cy="177800"/>
          </a:xfrm>
          <a:prstGeom prst="rect">
            <a:avLst/>
          </a:prstGeom>
          <a:solidFill>
            <a:srgbClr val="2632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7204F9C-EF15-384D-2A0F-A9A2D2454B39}"/>
              </a:ext>
            </a:extLst>
          </p:cNvPr>
          <p:cNvSpPr txBox="1"/>
          <p:nvPr/>
        </p:nvSpPr>
        <p:spPr>
          <a:xfrm>
            <a:off x="11684000" y="4343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AD0D741-6F29-E98F-FA58-D6C1E07A8B8F}"/>
              </a:ext>
            </a:extLst>
          </p:cNvPr>
          <p:cNvSpPr txBox="1"/>
          <p:nvPr/>
        </p:nvSpPr>
        <p:spPr>
          <a:xfrm>
            <a:off x="8890000" y="469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View schedule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A9763DB-9B20-C05A-8896-7715C0A22F9A}"/>
              </a:ext>
            </a:extLst>
          </p:cNvPr>
          <p:cNvSpPr/>
          <p:nvPr/>
        </p:nvSpPr>
        <p:spPr>
          <a:xfrm>
            <a:off x="8890000" y="5029200"/>
            <a:ext cx="2667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3FC3CB0-1BD5-D748-5392-97D1095328BC}"/>
              </a:ext>
            </a:extLst>
          </p:cNvPr>
          <p:cNvSpPr/>
          <p:nvPr/>
        </p:nvSpPr>
        <p:spPr>
          <a:xfrm>
            <a:off x="8890000" y="5029200"/>
            <a:ext cx="1600200" cy="177800"/>
          </a:xfrm>
          <a:prstGeom prst="rect">
            <a:avLst/>
          </a:prstGeom>
          <a:solidFill>
            <a:srgbClr val="26323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941E97D-1684-1AA5-D0FF-10C5054C6123}"/>
              </a:ext>
            </a:extLst>
          </p:cNvPr>
          <p:cNvSpPr txBox="1"/>
          <p:nvPr/>
        </p:nvSpPr>
        <p:spPr>
          <a:xfrm>
            <a:off x="11684000" y="4978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60%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5C2AD17B-27F0-B81E-E239-B355D3AA7D73}"/>
              </a:ext>
            </a:extLst>
          </p:cNvPr>
          <p:cNvSpPr txBox="1"/>
          <p:nvPr/>
        </p:nvSpPr>
        <p:spPr>
          <a:xfrm>
            <a:off x="8890000" y="5334000"/>
            <a:ext cx="2794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Segoe UI" panose="020B0502040204020203" pitchFamily="34" charset="0"/>
              </a:rPr>
              <a:t>No admin / delete power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70152827-DC24-5B05-7703-AEE9F003CBF2}"/>
              </a:ext>
            </a:extLst>
          </p:cNvPr>
          <p:cNvSpPr/>
          <p:nvPr/>
        </p:nvSpPr>
        <p:spPr>
          <a:xfrm>
            <a:off x="12192000" y="1651000"/>
            <a:ext cx="2286000" cy="4572000"/>
          </a:xfrm>
          <a:prstGeom prst="roundRect">
            <a:avLst/>
          </a:prstGeom>
          <a:solidFill>
            <a:srgbClr val="FFB70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b="1">
                <a:solidFill>
                  <a:srgbClr val="263238"/>
                </a:solidFill>
                <a:latin typeface="Segoe UI" panose="020B0502040204020203" pitchFamily="34" charset="0"/>
              </a:rPr>
              <a:t>student
Learner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6C7FAD69-69B4-7A00-E524-A15088FF5A2F}"/>
              </a:ext>
            </a:extLst>
          </p:cNvPr>
          <p:cNvSpPr txBox="1"/>
          <p:nvPr/>
        </p:nvSpPr>
        <p:spPr>
          <a:xfrm>
            <a:off x="12446000" y="2794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Own grades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761E004-9A52-9CC0-C9FC-DBAEECA30E73}"/>
              </a:ext>
            </a:extLst>
          </p:cNvPr>
          <p:cNvSpPr/>
          <p:nvPr/>
        </p:nvSpPr>
        <p:spPr>
          <a:xfrm>
            <a:off x="12446000" y="3124200"/>
            <a:ext cx="1905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C3E29A8A-3BF4-439F-1B0C-12854D569439}"/>
              </a:ext>
            </a:extLst>
          </p:cNvPr>
          <p:cNvSpPr/>
          <p:nvPr/>
        </p:nvSpPr>
        <p:spPr>
          <a:xfrm>
            <a:off x="12446000" y="3124200"/>
            <a:ext cx="1905000" cy="1778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5DFF96D5-792A-43FC-A160-41A00E61E2E7}"/>
              </a:ext>
            </a:extLst>
          </p:cNvPr>
          <p:cNvSpPr txBox="1"/>
          <p:nvPr/>
        </p:nvSpPr>
        <p:spPr>
          <a:xfrm>
            <a:off x="14478000" y="3073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D6E5687-BCBD-D996-4348-5EAEBB628AF2}"/>
              </a:ext>
            </a:extLst>
          </p:cNvPr>
          <p:cNvSpPr txBox="1"/>
          <p:nvPr/>
        </p:nvSpPr>
        <p:spPr>
          <a:xfrm>
            <a:off x="12446000" y="342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Own attendance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FF0E671F-7107-2FC5-873A-57F3E30238B8}"/>
              </a:ext>
            </a:extLst>
          </p:cNvPr>
          <p:cNvSpPr/>
          <p:nvPr/>
        </p:nvSpPr>
        <p:spPr>
          <a:xfrm>
            <a:off x="12446000" y="3759200"/>
            <a:ext cx="1905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F090DACE-576A-9A13-F259-CE8815FAAD78}"/>
              </a:ext>
            </a:extLst>
          </p:cNvPr>
          <p:cNvSpPr/>
          <p:nvPr/>
        </p:nvSpPr>
        <p:spPr>
          <a:xfrm>
            <a:off x="12446000" y="3759200"/>
            <a:ext cx="1905000" cy="1778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CA5745AD-2410-4251-C841-0B4A86592147}"/>
              </a:ext>
            </a:extLst>
          </p:cNvPr>
          <p:cNvSpPr txBox="1"/>
          <p:nvPr/>
        </p:nvSpPr>
        <p:spPr>
          <a:xfrm>
            <a:off x="14478000" y="3708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4717BA2-74CF-8538-F9BA-3F4AB3148582}"/>
              </a:ext>
            </a:extLst>
          </p:cNvPr>
          <p:cNvSpPr txBox="1"/>
          <p:nvPr/>
        </p:nvSpPr>
        <p:spPr>
          <a:xfrm>
            <a:off x="12446000" y="4064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Own schedule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610B50A5-88CD-1DE1-2CC3-C30A87FC8FC0}"/>
              </a:ext>
            </a:extLst>
          </p:cNvPr>
          <p:cNvSpPr/>
          <p:nvPr/>
        </p:nvSpPr>
        <p:spPr>
          <a:xfrm>
            <a:off x="12446000" y="4394200"/>
            <a:ext cx="1905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AA8A773-74E9-1F2E-95B3-C4B19778E403}"/>
              </a:ext>
            </a:extLst>
          </p:cNvPr>
          <p:cNvSpPr/>
          <p:nvPr/>
        </p:nvSpPr>
        <p:spPr>
          <a:xfrm>
            <a:off x="12446000" y="4394200"/>
            <a:ext cx="1905000" cy="1778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BE10D0B9-F24D-BF79-D8B2-3C17009E1F92}"/>
              </a:ext>
            </a:extLst>
          </p:cNvPr>
          <p:cNvSpPr txBox="1"/>
          <p:nvPr/>
        </p:nvSpPr>
        <p:spPr>
          <a:xfrm>
            <a:off x="14478000" y="4343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B57D26C5-95AF-5B34-97D1-75B84C6DE2C3}"/>
              </a:ext>
            </a:extLst>
          </p:cNvPr>
          <p:cNvSpPr txBox="1"/>
          <p:nvPr/>
        </p:nvSpPr>
        <p:spPr>
          <a:xfrm>
            <a:off x="12446000" y="4699000"/>
            <a:ext cx="7620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263238"/>
                </a:solidFill>
                <a:latin typeface="Segoe UI" panose="020B0502040204020203" pitchFamily="34" charset="0"/>
              </a:rPr>
              <a:t>Read-only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E9E82EDD-0C0B-0C7F-A625-77FE85AD1AD2}"/>
              </a:ext>
            </a:extLst>
          </p:cNvPr>
          <p:cNvSpPr/>
          <p:nvPr/>
        </p:nvSpPr>
        <p:spPr>
          <a:xfrm>
            <a:off x="12446000" y="5029200"/>
            <a:ext cx="1905000" cy="177800"/>
          </a:xfrm>
          <a:prstGeom prst="rect">
            <a:avLst/>
          </a:prstGeom>
          <a:solidFill>
            <a:srgbClr val="D9E2E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ectangle 75">
            <a:extLst>
              <a:ext uri="{FF2B5EF4-FFF2-40B4-BE49-F238E27FC236}">
                <a16:creationId xmlns:a16="http://schemas.microsoft.com/office/drawing/2014/main" id="{907CA697-63D1-6EC3-7F79-1FE668EB6F49}"/>
              </a:ext>
            </a:extLst>
          </p:cNvPr>
          <p:cNvSpPr/>
          <p:nvPr/>
        </p:nvSpPr>
        <p:spPr>
          <a:xfrm>
            <a:off x="12446000" y="5029200"/>
            <a:ext cx="1905000" cy="1778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CAAA602E-F540-E154-9FD3-CFE929A5420F}"/>
              </a:ext>
            </a:extLst>
          </p:cNvPr>
          <p:cNvSpPr txBox="1"/>
          <p:nvPr/>
        </p:nvSpPr>
        <p:spPr>
          <a:xfrm>
            <a:off x="14478000" y="4978400"/>
            <a:ext cx="1143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100%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6DA429CF-D558-4EA7-0D71-C7F6D4367099}"/>
              </a:ext>
            </a:extLst>
          </p:cNvPr>
          <p:cNvSpPr txBox="1"/>
          <p:nvPr/>
        </p:nvSpPr>
        <p:spPr>
          <a:xfrm>
            <a:off x="12446000" y="5334000"/>
            <a:ext cx="1905000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200">
                <a:solidFill>
                  <a:srgbClr val="263238"/>
                </a:solidFill>
                <a:latin typeface="Segoe UI" panose="020B0502040204020203" pitchFamily="34" charset="0"/>
              </a:rPr>
              <a:t>Data locked to self</a:t>
            </a:r>
          </a:p>
        </p:txBody>
      </p:sp>
    </p:spTree>
    <p:extLst>
      <p:ext uri="{BB962C8B-B14F-4D97-AF65-F5344CB8AC3E}">
        <p14:creationId xmlns:p14="http://schemas.microsoft.com/office/powerpoint/2010/main" val="32438348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0948C-DB8B-91E8-7113-F3D7A8E5A1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7A0B11-4E71-BBE3-3E92-2F6C17BE78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ABB978D-6F3D-0B63-BC11-277912CA99C9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F38782-632A-AB85-AA50-EBF1B637C910}"/>
              </a:ext>
            </a:extLst>
          </p:cNvPr>
          <p:cNvSpPr txBox="1"/>
          <p:nvPr/>
        </p:nvSpPr>
        <p:spPr>
          <a:xfrm>
            <a:off x="1016000" y="5715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00529B"/>
                </a:solidFill>
                <a:latin typeface="Segoe UI" panose="020B0502040204020203" pitchFamily="34" charset="0"/>
              </a:rPr>
              <a:t>Workflow: Onboarding a New School Year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C09E5FD-9601-B81A-85FB-3D95B8E5EC0F}"/>
              </a:ext>
            </a:extLst>
          </p:cNvPr>
          <p:cNvSpPr/>
          <p:nvPr/>
        </p:nvSpPr>
        <p:spPr>
          <a:xfrm>
            <a:off x="1016000" y="1905000"/>
            <a:ext cx="1905000" cy="6350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1. School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0D9A65D-B3CF-8021-B83D-38DC87AFEF4C}"/>
              </a:ext>
            </a:extLst>
          </p:cNvPr>
          <p:cNvSpPr/>
          <p:nvPr/>
        </p:nvSpPr>
        <p:spPr>
          <a:xfrm>
            <a:off x="3365500" y="1905000"/>
            <a:ext cx="1905000" cy="6350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2. Year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F099BFB-71D7-E64F-DD3A-093AC620E015}"/>
              </a:ext>
            </a:extLst>
          </p:cNvPr>
          <p:cNvSpPr/>
          <p:nvPr/>
        </p:nvSpPr>
        <p:spPr>
          <a:xfrm>
            <a:off x="5715000" y="1905000"/>
            <a:ext cx="1905000" cy="6350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3. Program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9040601-267D-6F84-139D-05720ED73AF0}"/>
              </a:ext>
            </a:extLst>
          </p:cNvPr>
          <p:cNvSpPr/>
          <p:nvPr/>
        </p:nvSpPr>
        <p:spPr>
          <a:xfrm>
            <a:off x="8064500" y="1905000"/>
            <a:ext cx="1905000" cy="6350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4. Subject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9BF8AB1-6F0F-E99F-7608-90CFEE8066D6}"/>
              </a:ext>
            </a:extLst>
          </p:cNvPr>
          <p:cNvSpPr/>
          <p:nvPr/>
        </p:nvSpPr>
        <p:spPr>
          <a:xfrm>
            <a:off x="10414000" y="1905000"/>
            <a:ext cx="1905000" cy="6350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5. Class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62E3800-B734-CE65-9F48-01148078749D}"/>
              </a:ext>
            </a:extLst>
          </p:cNvPr>
          <p:cNvSpPr/>
          <p:nvPr/>
        </p:nvSpPr>
        <p:spPr>
          <a:xfrm>
            <a:off x="12763500" y="1905000"/>
            <a:ext cx="1905000" cy="635000"/>
          </a:xfrm>
          <a:prstGeom prst="ellipse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6. Room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574E9E4-C48E-DC31-2EDA-0FBDCC599E71}"/>
              </a:ext>
            </a:extLst>
          </p:cNvPr>
          <p:cNvCxnSpPr/>
          <p:nvPr/>
        </p:nvCxnSpPr>
        <p:spPr>
          <a:xfrm>
            <a:off x="2921000" y="2222500"/>
            <a:ext cx="444500" cy="0"/>
          </a:xfrm>
          <a:prstGeom prst="line">
            <a:avLst/>
          </a:prstGeom>
          <a:ln w="381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3D63D28-219B-416F-4BC8-676F060C1607}"/>
              </a:ext>
            </a:extLst>
          </p:cNvPr>
          <p:cNvCxnSpPr/>
          <p:nvPr/>
        </p:nvCxnSpPr>
        <p:spPr>
          <a:xfrm>
            <a:off x="5270500" y="2222500"/>
            <a:ext cx="444500" cy="0"/>
          </a:xfrm>
          <a:prstGeom prst="line">
            <a:avLst/>
          </a:prstGeom>
          <a:ln w="381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86750F2-5DCC-6023-36BF-CF5B677400CD}"/>
              </a:ext>
            </a:extLst>
          </p:cNvPr>
          <p:cNvCxnSpPr/>
          <p:nvPr/>
        </p:nvCxnSpPr>
        <p:spPr>
          <a:xfrm>
            <a:off x="7620000" y="2222500"/>
            <a:ext cx="444500" cy="0"/>
          </a:xfrm>
          <a:prstGeom prst="line">
            <a:avLst/>
          </a:prstGeom>
          <a:ln w="381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37BC59-5C53-9441-27AF-6ED62F032E37}"/>
              </a:ext>
            </a:extLst>
          </p:cNvPr>
          <p:cNvCxnSpPr/>
          <p:nvPr/>
        </p:nvCxnSpPr>
        <p:spPr>
          <a:xfrm>
            <a:off x="9969500" y="2222500"/>
            <a:ext cx="444500" cy="0"/>
          </a:xfrm>
          <a:prstGeom prst="line">
            <a:avLst/>
          </a:prstGeom>
          <a:ln w="381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BE6BB9-216B-77D6-F559-C12123944EC8}"/>
              </a:ext>
            </a:extLst>
          </p:cNvPr>
          <p:cNvCxnSpPr/>
          <p:nvPr/>
        </p:nvCxnSpPr>
        <p:spPr>
          <a:xfrm>
            <a:off x="12319000" y="2222500"/>
            <a:ext cx="444500" cy="0"/>
          </a:xfrm>
          <a:prstGeom prst="line">
            <a:avLst/>
          </a:prstGeom>
          <a:ln w="381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33529C6-9E54-2FFF-A14C-0710592E6C52}"/>
              </a:ext>
            </a:extLst>
          </p:cNvPr>
          <p:cNvSpPr txBox="1"/>
          <p:nvPr/>
        </p:nvSpPr>
        <p:spPr>
          <a:xfrm>
            <a:off x="1016000" y="3048000"/>
            <a:ext cx="508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School info, academic
year, programs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BE7EFB-FF22-B806-DDA0-862B67F75B53}"/>
              </a:ext>
            </a:extLst>
          </p:cNvPr>
          <p:cNvSpPr txBox="1"/>
          <p:nvPr/>
        </p:nvSpPr>
        <p:spPr>
          <a:xfrm>
            <a:off x="5969000" y="3048000"/>
            <a:ext cx="508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Subjects define what
is taught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5470E1C-190A-514F-51FD-A95BC1D50A30}"/>
              </a:ext>
            </a:extLst>
          </p:cNvPr>
          <p:cNvSpPr txBox="1"/>
          <p:nvPr/>
        </p:nvSpPr>
        <p:spPr>
          <a:xfrm>
            <a:off x="10541000" y="3048000"/>
            <a:ext cx="5080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Classes link program
+ academic year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280017-2BDA-B226-17A8-8D23F34525D2}"/>
              </a:ext>
            </a:extLst>
          </p:cNvPr>
          <p:cNvSpPr txBox="1"/>
          <p:nvPr/>
        </p:nvSpPr>
        <p:spPr>
          <a:xfrm>
            <a:off x="1016000" y="4445000"/>
            <a:ext cx="1397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884C8"/>
                </a:solidFill>
                <a:latin typeface="Segoe UI" panose="020B0502040204020203" pitchFamily="34" charset="0"/>
              </a:rPr>
              <a:t>Permission gate: settings.view / settings.update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7A82469-068B-9350-E4F1-75B56916B759}"/>
              </a:ext>
            </a:extLst>
          </p:cNvPr>
          <p:cNvSpPr/>
          <p:nvPr/>
        </p:nvSpPr>
        <p:spPr>
          <a:xfrm>
            <a:off x="1016000" y="5080000"/>
            <a:ext cx="13970000" cy="2794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0C9BF11-D784-E01A-CF45-E60614B8D6C7}"/>
              </a:ext>
            </a:extLst>
          </p:cNvPr>
          <p:cNvSpPr txBox="1"/>
          <p:nvPr/>
        </p:nvSpPr>
        <p:spPr>
          <a:xfrm>
            <a:off x="1397000" y="5334000"/>
            <a:ext cx="1346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0529B"/>
                </a:solidFill>
                <a:latin typeface="Segoe UI" panose="020B0502040204020203" pitchFamily="34" charset="0"/>
              </a:rPr>
              <a:t>Phase details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A30A02-9F7D-FF3C-4D53-2CFD617C0313}"/>
              </a:ext>
            </a:extLst>
          </p:cNvPr>
          <p:cNvSpPr txBox="1"/>
          <p:nvPr/>
        </p:nvSpPr>
        <p:spPr>
          <a:xfrm>
            <a:off x="1397000" y="59055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 schools - academic-years - programs - subjects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A7D9A5B-F4CD-BB79-31EF-7621E0FF6C47}"/>
              </a:ext>
            </a:extLst>
          </p:cNvPr>
          <p:cNvSpPr txBox="1"/>
          <p:nvPr/>
        </p:nvSpPr>
        <p:spPr>
          <a:xfrm>
            <a:off x="1397000" y="63881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 classes (program + academic-year)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9A5E2C3-9040-526A-FFBE-E84233D2FCF1}"/>
              </a:ext>
            </a:extLst>
          </p:cNvPr>
          <p:cNvSpPr txBox="1"/>
          <p:nvPr/>
        </p:nvSpPr>
        <p:spPr>
          <a:xfrm>
            <a:off x="1397000" y="68707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 rooms - schedules</a:t>
            </a:r>
          </a:p>
        </p:txBody>
      </p:sp>
    </p:spTree>
    <p:extLst>
      <p:ext uri="{BB962C8B-B14F-4D97-AF65-F5344CB8AC3E}">
        <p14:creationId xmlns:p14="http://schemas.microsoft.com/office/powerpoint/2010/main" val="1053633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FA74A-69C2-C161-5EFA-E52ECC49E94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A57D89-9B96-6B08-88F5-295BD6E00F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9504733-0AA5-44B8-04F4-A627B75620F4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B22874-59D1-A9B3-D7D3-58AA64AB42D1}"/>
              </a:ext>
            </a:extLst>
          </p:cNvPr>
          <p:cNvSpPr txBox="1"/>
          <p:nvPr/>
        </p:nvSpPr>
        <p:spPr>
          <a:xfrm>
            <a:off x="1016000" y="5715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00529B"/>
                </a:solidFill>
                <a:latin typeface="Segoe UI" panose="020B0502040204020203" pitchFamily="34" charset="0"/>
              </a:rPr>
              <a:t>Workflow: Student Enrollment and Login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46F96A9-C38C-CCEB-DEEB-CD9A9E08667D}"/>
              </a:ext>
            </a:extLst>
          </p:cNvPr>
          <p:cNvSpPr/>
          <p:nvPr/>
        </p:nvSpPr>
        <p:spPr>
          <a:xfrm>
            <a:off x="1016000" y="1778000"/>
            <a:ext cx="3048000" cy="1016000"/>
          </a:xfrm>
          <a:prstGeom prst="round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Admin creates student,
sets email and password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290BD3B-6AF0-C441-9818-9745C284C8AC}"/>
              </a:ext>
            </a:extLst>
          </p:cNvPr>
          <p:cNvCxnSpPr/>
          <p:nvPr/>
        </p:nvCxnSpPr>
        <p:spPr>
          <a:xfrm>
            <a:off x="4064000" y="2286000"/>
            <a:ext cx="889000" cy="0"/>
          </a:xfrm>
          <a:prstGeom prst="line">
            <a:avLst/>
          </a:prstGeom>
          <a:ln w="381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D435896-7B7E-5A94-37C9-7C0070CF9B01}"/>
              </a:ext>
            </a:extLst>
          </p:cNvPr>
          <p:cNvSpPr/>
          <p:nvPr/>
        </p:nvSpPr>
        <p:spPr>
          <a:xfrm>
            <a:off x="4953000" y="1778000"/>
            <a:ext cx="3302000" cy="101600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Backend auto-creates a
linked User (role student)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86C2770-E0C1-C995-35F1-FA1F32BC98C7}"/>
              </a:ext>
            </a:extLst>
          </p:cNvPr>
          <p:cNvCxnSpPr/>
          <p:nvPr/>
        </p:nvCxnSpPr>
        <p:spPr>
          <a:xfrm>
            <a:off x="8255000" y="2286000"/>
            <a:ext cx="762000" cy="0"/>
          </a:xfrm>
          <a:prstGeom prst="line">
            <a:avLst/>
          </a:prstGeom>
          <a:ln w="381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1AD0B6F-C033-2358-BEA3-0D1EAE4D042D}"/>
              </a:ext>
            </a:extLst>
          </p:cNvPr>
          <p:cNvSpPr/>
          <p:nvPr/>
        </p:nvSpPr>
        <p:spPr>
          <a:xfrm>
            <a:off x="9017000" y="1778000"/>
            <a:ext cx="2794000" cy="1016000"/>
          </a:xfrm>
          <a:prstGeom prst="roundRect">
            <a:avLst/>
          </a:prstGeom>
          <a:solidFill>
            <a:srgbClr val="2EA0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Student can now log in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F64417F-5FA7-B895-8880-27FD5EC4E8B3}"/>
              </a:ext>
            </a:extLst>
          </p:cNvPr>
          <p:cNvSpPr txBox="1"/>
          <p:nvPr/>
        </p:nvSpPr>
        <p:spPr>
          <a:xfrm>
            <a:off x="1016000" y="3175000"/>
            <a:ext cx="1270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One action = student record + a login account, password hashed automatically.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5D144C0-D384-9DD2-CF5D-AA60C94F07F8}"/>
              </a:ext>
            </a:extLst>
          </p:cNvPr>
          <p:cNvSpPr/>
          <p:nvPr/>
        </p:nvSpPr>
        <p:spPr>
          <a:xfrm>
            <a:off x="1016000" y="4064000"/>
            <a:ext cx="2794000" cy="1016000"/>
          </a:xfrm>
          <a:prstGeom prst="roundRect">
            <a:avLst/>
          </a:prstGeom>
          <a:solidFill>
            <a:srgbClr val="FFB70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263238"/>
                </a:solidFill>
                <a:latin typeface="Segoe UI" panose="020B0502040204020203" pitchFamily="34" charset="0"/>
              </a:rPr>
              <a:t>Student logs in at
the portal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DB211EE-9F1D-028F-48A2-97438842B89F}"/>
              </a:ext>
            </a:extLst>
          </p:cNvPr>
          <p:cNvSpPr/>
          <p:nvPr/>
        </p:nvSpPr>
        <p:spPr>
          <a:xfrm>
            <a:off x="4191000" y="4064000"/>
            <a:ext cx="2794000" cy="1016000"/>
          </a:xfrm>
          <a:prstGeom prst="roundRect">
            <a:avLst/>
          </a:prstGeom>
          <a:solidFill>
            <a:srgbClr val="FFB70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263238"/>
                </a:solidFill>
                <a:latin typeface="Segoe UI" panose="020B0502040204020203" pitchFamily="34" charset="0"/>
              </a:rPr>
              <a:t>Sees own grades
and cards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5E38B40-0388-EB3D-012E-ECDE22FEE8DA}"/>
              </a:ext>
            </a:extLst>
          </p:cNvPr>
          <p:cNvSpPr/>
          <p:nvPr/>
        </p:nvSpPr>
        <p:spPr>
          <a:xfrm>
            <a:off x="7366000" y="4064000"/>
            <a:ext cx="2794000" cy="1016000"/>
          </a:xfrm>
          <a:prstGeom prst="roundRect">
            <a:avLst/>
          </a:prstGeom>
          <a:solidFill>
            <a:srgbClr val="FFB70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263238"/>
                </a:solidFill>
                <a:latin typeface="Segoe UI" panose="020B0502040204020203" pitchFamily="34" charset="0"/>
              </a:rPr>
              <a:t>Own schedule
and attendance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F58F61B-FCAE-9741-71B0-F569912645C2}"/>
              </a:ext>
            </a:extLst>
          </p:cNvPr>
          <p:cNvSpPr/>
          <p:nvPr/>
        </p:nvSpPr>
        <p:spPr>
          <a:xfrm>
            <a:off x="10541000" y="4064000"/>
            <a:ext cx="2794000" cy="1016000"/>
          </a:xfrm>
          <a:prstGeom prst="roundRect">
            <a:avLst/>
          </a:prstGeom>
          <a:solidFill>
            <a:srgbClr val="FFB70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263238"/>
                </a:solidFill>
                <a:latin typeface="Segoe UI" panose="020B0502040204020203" pitchFamily="34" charset="0"/>
              </a:rPr>
              <a:t>Read-only
access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7A47F13-F175-1DDC-EDC6-500C203CE05F}"/>
              </a:ext>
            </a:extLst>
          </p:cNvPr>
          <p:cNvSpPr txBox="1"/>
          <p:nvPr/>
        </p:nvSpPr>
        <p:spPr>
          <a:xfrm>
            <a:off x="1016000" y="5461000"/>
            <a:ext cx="1397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884C8"/>
                </a:solidFill>
                <a:latin typeface="Segoe UI" panose="020B0502040204020203" pitchFamily="34" charset="0"/>
              </a:rPr>
              <a:t>Read-only for the student - cannot create, edit or delete anything.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D9DD470-A888-B4D3-3FEA-0924E708FF0D}"/>
              </a:ext>
            </a:extLst>
          </p:cNvPr>
          <p:cNvSpPr/>
          <p:nvPr/>
        </p:nvSpPr>
        <p:spPr>
          <a:xfrm>
            <a:off x="1016000" y="6096000"/>
            <a:ext cx="3810000" cy="1524000"/>
          </a:xfrm>
          <a:prstGeom prst="roundRect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teachers and admins
students.create / update / delete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EF5E5746-2A6C-FF2B-F175-B216947CE4B0}"/>
              </a:ext>
            </a:extLst>
          </p:cNvPr>
          <p:cNvSpPr/>
          <p:nvPr/>
        </p:nvSpPr>
        <p:spPr>
          <a:xfrm>
            <a:off x="5080000" y="6096000"/>
            <a:ext cx="3810000" cy="1524000"/>
          </a:xfrm>
          <a:prstGeom prst="roundRect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students (role)
students.view (own data only)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25E734-F9CF-E36C-5883-6DB4489413C0}"/>
              </a:ext>
            </a:extLst>
          </p:cNvPr>
          <p:cNvSpPr/>
          <p:nvPr/>
        </p:nvSpPr>
        <p:spPr>
          <a:xfrm>
            <a:off x="9144000" y="6096000"/>
            <a:ext cx="3810000" cy="1524000"/>
          </a:xfrm>
          <a:prstGeom prst="roundRect">
            <a:avLst/>
          </a:prstGeom>
          <a:solidFill>
            <a:srgbClr val="E8F0F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300" b="1">
                <a:solidFill>
                  <a:srgbClr val="00529B"/>
                </a:solidFill>
                <a:latin typeface="Segoe UI" panose="020B0502040204020203" pitchFamily="34" charset="0"/>
              </a:rPr>
              <a:t>isolation
student scoped to own records</a:t>
            </a:r>
          </a:p>
        </p:txBody>
      </p:sp>
    </p:spTree>
    <p:extLst>
      <p:ext uri="{BB962C8B-B14F-4D97-AF65-F5344CB8AC3E}">
        <p14:creationId xmlns:p14="http://schemas.microsoft.com/office/powerpoint/2010/main" val="628301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F8E4B-0348-5D36-64E7-4146308A8B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C4AABA-701C-4DA1-130E-3B98162C108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2B9E66-1B80-82C0-BB0F-1543701BDA95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BB722-5F94-08CC-994A-3FA620CCA4AC}"/>
              </a:ext>
            </a:extLst>
          </p:cNvPr>
          <p:cNvSpPr txBox="1"/>
          <p:nvPr/>
        </p:nvSpPr>
        <p:spPr>
          <a:xfrm>
            <a:off x="1016000" y="571500"/>
            <a:ext cx="1143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00529B"/>
                </a:solidFill>
                <a:latin typeface="Segoe UI" panose="020B0502040204020203" pitchFamily="34" charset="0"/>
              </a:rPr>
              <a:t>Workflow: Grades - Draft, Lock, Publish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2D41A39-97B0-5097-A54F-2B37F3BF517E}"/>
              </a:ext>
            </a:extLst>
          </p:cNvPr>
          <p:cNvSpPr/>
          <p:nvPr/>
        </p:nvSpPr>
        <p:spPr>
          <a:xfrm>
            <a:off x="1016000" y="1905000"/>
            <a:ext cx="3048000" cy="114300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1. Create assessment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BCD22A-86E6-7C58-47D2-3219EA61DE93}"/>
              </a:ext>
            </a:extLst>
          </p:cNvPr>
          <p:cNvSpPr txBox="1"/>
          <p:nvPr/>
        </p:nvSpPr>
        <p:spPr>
          <a:xfrm>
            <a:off x="1016000" y="3175000"/>
            <a:ext cx="304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63238"/>
                </a:solidFill>
                <a:latin typeface="Segoe UI" panose="020B0502040204020203" pitchFamily="34" charset="0"/>
              </a:rPr>
              <a:t>Pick class, subject, module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F97E479-7DBD-0C98-704E-92072C5381D0}"/>
              </a:ext>
            </a:extLst>
          </p:cNvPr>
          <p:cNvCxnSpPr/>
          <p:nvPr/>
        </p:nvCxnSpPr>
        <p:spPr>
          <a:xfrm>
            <a:off x="4191000" y="2476500"/>
            <a:ext cx="381000" cy="0"/>
          </a:xfrm>
          <a:prstGeom prst="line">
            <a:avLst/>
          </a:prstGeom>
          <a:ln w="508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0F25F603-047A-A38F-8D51-3A8B149AC2AC}"/>
              </a:ext>
            </a:extLst>
          </p:cNvPr>
          <p:cNvSpPr/>
          <p:nvPr/>
        </p:nvSpPr>
        <p:spPr>
          <a:xfrm>
            <a:off x="4699000" y="1905000"/>
            <a:ext cx="3048000" cy="1143000"/>
          </a:xfrm>
          <a:prstGeom prst="round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2. Enter scores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1F5FDF-02E2-CCC9-4949-4697757D58E2}"/>
              </a:ext>
            </a:extLst>
          </p:cNvPr>
          <p:cNvSpPr txBox="1"/>
          <p:nvPr/>
        </p:nvSpPr>
        <p:spPr>
          <a:xfrm>
            <a:off x="4699000" y="3175000"/>
            <a:ext cx="304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63238"/>
                </a:solidFill>
                <a:latin typeface="Segoe UI" panose="020B0502040204020203" pitchFamily="34" charset="0"/>
              </a:rPr>
              <a:t>Batch per student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9D41626-BC4D-0834-9572-556B6543237C}"/>
              </a:ext>
            </a:extLst>
          </p:cNvPr>
          <p:cNvCxnSpPr/>
          <p:nvPr/>
        </p:nvCxnSpPr>
        <p:spPr>
          <a:xfrm>
            <a:off x="7874000" y="2476500"/>
            <a:ext cx="381000" cy="0"/>
          </a:xfrm>
          <a:prstGeom prst="line">
            <a:avLst/>
          </a:prstGeom>
          <a:ln w="508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34BBF0C-8E89-CC0A-3119-767D19EC4CB1}"/>
              </a:ext>
            </a:extLst>
          </p:cNvPr>
          <p:cNvSpPr/>
          <p:nvPr/>
        </p:nvSpPr>
        <p:spPr>
          <a:xfrm>
            <a:off x="8382000" y="1905000"/>
            <a:ext cx="3048000" cy="1143000"/>
          </a:xfrm>
          <a:prstGeom prst="round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3. Lock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D445663-ADBE-EDD9-11EA-FC48FC4CAE5E}"/>
              </a:ext>
            </a:extLst>
          </p:cNvPr>
          <p:cNvSpPr txBox="1"/>
          <p:nvPr/>
        </p:nvSpPr>
        <p:spPr>
          <a:xfrm>
            <a:off x="8382000" y="3175000"/>
            <a:ext cx="304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63238"/>
                </a:solidFill>
                <a:latin typeface="Segoe UI" panose="020B0502040204020203" pitchFamily="34" charset="0"/>
              </a:rPr>
              <a:t>Freeze edits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1AB3613-DE54-F82D-003F-31CE947D32F5}"/>
              </a:ext>
            </a:extLst>
          </p:cNvPr>
          <p:cNvCxnSpPr/>
          <p:nvPr/>
        </p:nvCxnSpPr>
        <p:spPr>
          <a:xfrm>
            <a:off x="11557000" y="2476500"/>
            <a:ext cx="381000" cy="0"/>
          </a:xfrm>
          <a:prstGeom prst="line">
            <a:avLst/>
          </a:prstGeom>
          <a:ln w="508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121E3A12-E95D-B06E-AB7B-EB20FD61431E}"/>
              </a:ext>
            </a:extLst>
          </p:cNvPr>
          <p:cNvSpPr/>
          <p:nvPr/>
        </p:nvSpPr>
        <p:spPr>
          <a:xfrm>
            <a:off x="12065000" y="1905000"/>
            <a:ext cx="3048000" cy="1143000"/>
          </a:xfrm>
          <a:prstGeom prst="roundRect">
            <a:avLst/>
          </a:prstGeom>
          <a:solidFill>
            <a:srgbClr val="2EA0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600" b="1">
                <a:solidFill>
                  <a:srgbClr val="FFFFFF"/>
                </a:solidFill>
                <a:latin typeface="Segoe UI" panose="020B0502040204020203" pitchFamily="34" charset="0"/>
              </a:rPr>
              <a:t>4. Publish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D219CEB-8FC6-2819-8FB3-7069E0AD0699}"/>
              </a:ext>
            </a:extLst>
          </p:cNvPr>
          <p:cNvSpPr txBox="1"/>
          <p:nvPr/>
        </p:nvSpPr>
        <p:spPr>
          <a:xfrm>
            <a:off x="12065000" y="3175000"/>
            <a:ext cx="3048000" cy="29238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263238"/>
                </a:solidFill>
                <a:latin typeface="Segoe UI" panose="020B0502040204020203" pitchFamily="34" charset="0"/>
              </a:rPr>
              <a:t>Visible to students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383CA80-4933-91D1-C0FA-8A2BF49F53B8}"/>
              </a:ext>
            </a:extLst>
          </p:cNvPr>
          <p:cNvSpPr txBox="1"/>
          <p:nvPr/>
        </p:nvSpPr>
        <p:spPr>
          <a:xfrm>
            <a:off x="1016000" y="4191000"/>
            <a:ext cx="1397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884C8"/>
                </a:solidFill>
                <a:latin typeface="Segoe UI" panose="020B0502040204020203" pitchFamily="34" charset="0"/>
              </a:rPr>
              <a:t>Until published, grades are invisible. Only a teacher with grades.update can publish or lock.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742CD3BB-DA41-46BB-4725-D736D9645E2A}"/>
              </a:ext>
            </a:extLst>
          </p:cNvPr>
          <p:cNvSpPr/>
          <p:nvPr/>
        </p:nvSpPr>
        <p:spPr>
          <a:xfrm>
            <a:off x="1016000" y="4953000"/>
            <a:ext cx="13970000" cy="2794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287A2B-B791-E7A7-1E17-E65912D470A1}"/>
              </a:ext>
            </a:extLst>
          </p:cNvPr>
          <p:cNvSpPr txBox="1"/>
          <p:nvPr/>
        </p:nvSpPr>
        <p:spPr>
          <a:xfrm>
            <a:off x="1397000" y="5207000"/>
            <a:ext cx="1346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0529B"/>
                </a:solidFill>
                <a:latin typeface="Segoe UI" panose="020B0502040204020203" pitchFamily="34" charset="0"/>
              </a:rPr>
              <a:t>API endpoints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8E8DE80-83EF-73AC-DEC9-1BD7B1E55E18}"/>
              </a:ext>
            </a:extLst>
          </p:cNvPr>
          <p:cNvSpPr txBox="1"/>
          <p:nvPr/>
        </p:nvSpPr>
        <p:spPr>
          <a:xfrm>
            <a:off x="1397000" y="57785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POST  /assessments                        grades.create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0C721CF-2180-55C7-602E-84E4F16E1356}"/>
              </a:ext>
            </a:extLst>
          </p:cNvPr>
          <p:cNvSpPr txBox="1"/>
          <p:nvPr/>
        </p:nvSpPr>
        <p:spPr>
          <a:xfrm>
            <a:off x="1397000" y="62865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PUT   /assessments/{id}/grades            grades.update   (batch scores)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F79B0FF-2F4C-2C6E-14AA-E2CCC17890CE}"/>
              </a:ext>
            </a:extLst>
          </p:cNvPr>
          <p:cNvSpPr txBox="1"/>
          <p:nvPr/>
        </p:nvSpPr>
        <p:spPr>
          <a:xfrm>
            <a:off x="1397000" y="67945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POST  /assessments/{id}/lock              grades.update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950AD06-1705-11E7-3845-2721E0CE47D4}"/>
              </a:ext>
            </a:extLst>
          </p:cNvPr>
          <p:cNvSpPr txBox="1"/>
          <p:nvPr/>
        </p:nvSpPr>
        <p:spPr>
          <a:xfrm>
            <a:off x="1397000" y="73025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POST  /assessments/{id}/publish           grades.update</a:t>
            </a:r>
          </a:p>
        </p:txBody>
      </p:sp>
    </p:spTree>
    <p:extLst>
      <p:ext uri="{BB962C8B-B14F-4D97-AF65-F5344CB8AC3E}">
        <p14:creationId xmlns:p14="http://schemas.microsoft.com/office/powerpoint/2010/main" val="4202733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F7093-310E-394B-1FCF-C49E88C028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FF426-9A7D-5C94-1E8A-C212FDDFC7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10E373-198D-E88A-2385-A542CBAEE431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3C2E1-CB50-E135-27EA-FB28EF06B6F0}"/>
              </a:ext>
            </a:extLst>
          </p:cNvPr>
          <p:cNvSpPr txBox="1"/>
          <p:nvPr/>
        </p:nvSpPr>
        <p:spPr>
          <a:xfrm>
            <a:off x="1016000" y="571500"/>
            <a:ext cx="1143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00529B"/>
                </a:solidFill>
                <a:latin typeface="Segoe UI" panose="020B0502040204020203" pitchFamily="34" charset="0"/>
              </a:rPr>
              <a:t>Workflow: Attendance Tracking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2428351-F601-9DD5-D23A-E2C233D63892}"/>
              </a:ext>
            </a:extLst>
          </p:cNvPr>
          <p:cNvSpPr/>
          <p:nvPr/>
        </p:nvSpPr>
        <p:spPr>
          <a:xfrm>
            <a:off x="1016000" y="1905000"/>
            <a:ext cx="3302000" cy="1016000"/>
          </a:xfrm>
          <a:prstGeom prst="round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1. Create session
(class - date - subject)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671A9C-7813-62DB-662F-E18B3D51FDB7}"/>
              </a:ext>
            </a:extLst>
          </p:cNvPr>
          <p:cNvCxnSpPr/>
          <p:nvPr/>
        </p:nvCxnSpPr>
        <p:spPr>
          <a:xfrm>
            <a:off x="4318000" y="2413000"/>
            <a:ext cx="1016000" cy="0"/>
          </a:xfrm>
          <a:prstGeom prst="line">
            <a:avLst/>
          </a:prstGeom>
          <a:ln w="508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844C96C-E17F-EEFB-2921-E81543DBAE5B}"/>
              </a:ext>
            </a:extLst>
          </p:cNvPr>
          <p:cNvSpPr/>
          <p:nvPr/>
        </p:nvSpPr>
        <p:spPr>
          <a:xfrm>
            <a:off x="5334000" y="1905000"/>
            <a:ext cx="3302000" cy="101600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2. Mark each student
present/absent/late/justified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EF67CD-4474-4F6B-B2B0-368B7F59793C}"/>
              </a:ext>
            </a:extLst>
          </p:cNvPr>
          <p:cNvCxnSpPr/>
          <p:nvPr/>
        </p:nvCxnSpPr>
        <p:spPr>
          <a:xfrm>
            <a:off x="8636000" y="2413000"/>
            <a:ext cx="762000" cy="0"/>
          </a:xfrm>
          <a:prstGeom prst="line">
            <a:avLst/>
          </a:prstGeom>
          <a:ln w="508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9D88736-B49E-91A7-047C-76A87A04AA4D}"/>
              </a:ext>
            </a:extLst>
          </p:cNvPr>
          <p:cNvSpPr/>
          <p:nvPr/>
        </p:nvSpPr>
        <p:spPr>
          <a:xfrm>
            <a:off x="9398000" y="1905000"/>
            <a:ext cx="3810000" cy="1016000"/>
          </a:xfrm>
          <a:prstGeom prst="roundRect">
            <a:avLst/>
          </a:prstGeom>
          <a:solidFill>
            <a:srgbClr val="2EA0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3. View / stream records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6651359-54B3-F356-5E5F-28AC0242A1A8}"/>
              </a:ext>
            </a:extLst>
          </p:cNvPr>
          <p:cNvSpPr txBox="1"/>
          <p:nvPr/>
        </p:nvSpPr>
        <p:spPr>
          <a:xfrm>
            <a:off x="1016000" y="3556000"/>
            <a:ext cx="508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0529B"/>
                </a:solidFill>
                <a:latin typeface="Segoe UI" panose="020B0502040204020203" pitchFamily="34" charset="0"/>
              </a:rPr>
              <a:t>Attendance statuses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860DEB0-43C1-E68A-B091-F4ABF176DE8A}"/>
              </a:ext>
            </a:extLst>
          </p:cNvPr>
          <p:cNvSpPr/>
          <p:nvPr/>
        </p:nvSpPr>
        <p:spPr>
          <a:xfrm>
            <a:off x="1016000" y="4000500"/>
            <a:ext cx="330200" cy="330200"/>
          </a:xfrm>
          <a:prstGeom prst="ellipse">
            <a:avLst/>
          </a:prstGeom>
          <a:solidFill>
            <a:srgbClr val="2EA0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184D0BC-0CD2-35EF-479F-9415CDF9FE90}"/>
              </a:ext>
            </a:extLst>
          </p:cNvPr>
          <p:cNvSpPr txBox="1"/>
          <p:nvPr/>
        </p:nvSpPr>
        <p:spPr>
          <a:xfrm>
            <a:off x="1447800" y="4038600"/>
            <a:ext cx="152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Present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254FDA15-B661-765B-053C-E21FCE0C779D}"/>
              </a:ext>
            </a:extLst>
          </p:cNvPr>
          <p:cNvSpPr/>
          <p:nvPr/>
        </p:nvSpPr>
        <p:spPr>
          <a:xfrm>
            <a:off x="3556000" y="4000500"/>
            <a:ext cx="330200" cy="330200"/>
          </a:xfrm>
          <a:prstGeom prst="ellipse">
            <a:avLst/>
          </a:prstGeom>
          <a:solidFill>
            <a:srgbClr val="DB443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7EE51E-F725-5979-0EE9-35246D098D1C}"/>
              </a:ext>
            </a:extLst>
          </p:cNvPr>
          <p:cNvSpPr txBox="1"/>
          <p:nvPr/>
        </p:nvSpPr>
        <p:spPr>
          <a:xfrm>
            <a:off x="3987800" y="4038600"/>
            <a:ext cx="152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Absent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5BAAFF-E7E8-DB96-ACDA-8E399AE33FCE}"/>
              </a:ext>
            </a:extLst>
          </p:cNvPr>
          <p:cNvSpPr/>
          <p:nvPr/>
        </p:nvSpPr>
        <p:spPr>
          <a:xfrm>
            <a:off x="6096000" y="4000500"/>
            <a:ext cx="330200" cy="330200"/>
          </a:xfrm>
          <a:prstGeom prst="ellipse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9E91444-7A05-8FC5-BE66-77A8A18BEF09}"/>
              </a:ext>
            </a:extLst>
          </p:cNvPr>
          <p:cNvSpPr txBox="1"/>
          <p:nvPr/>
        </p:nvSpPr>
        <p:spPr>
          <a:xfrm>
            <a:off x="6527800" y="4038600"/>
            <a:ext cx="152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Late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27ABFA7B-0343-E10F-C1AE-D5EF990327D2}"/>
              </a:ext>
            </a:extLst>
          </p:cNvPr>
          <p:cNvSpPr/>
          <p:nvPr/>
        </p:nvSpPr>
        <p:spPr>
          <a:xfrm>
            <a:off x="8636000" y="4000500"/>
            <a:ext cx="330200" cy="330200"/>
          </a:xfrm>
          <a:prstGeom prst="ellipse">
            <a:avLst/>
          </a:prstGeom>
          <a:solidFill>
            <a:srgbClr val="3884C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A12BD99-FE21-D14C-36FD-266727094172}"/>
              </a:ext>
            </a:extLst>
          </p:cNvPr>
          <p:cNvSpPr txBox="1"/>
          <p:nvPr/>
        </p:nvSpPr>
        <p:spPr>
          <a:xfrm>
            <a:off x="9067800" y="4038600"/>
            <a:ext cx="152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Justified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8E9983A-A740-203E-06C1-854425622CBC}"/>
              </a:ext>
            </a:extLst>
          </p:cNvPr>
          <p:cNvSpPr txBox="1"/>
          <p:nvPr/>
        </p:nvSpPr>
        <p:spPr>
          <a:xfrm>
            <a:off x="1016000" y="4953000"/>
            <a:ext cx="1397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884C8"/>
                </a:solidFill>
                <a:latin typeface="Segoe UI" panose="020B0502040204020203" pitchFamily="34" charset="0"/>
              </a:rPr>
              <a:t>Students can see their own status; the teacher creates and maintains sessions.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2B74640-79B9-588F-7BCD-B8E7886131A6}"/>
              </a:ext>
            </a:extLst>
          </p:cNvPr>
          <p:cNvSpPr/>
          <p:nvPr/>
        </p:nvSpPr>
        <p:spPr>
          <a:xfrm>
            <a:off x="1016000" y="5588000"/>
            <a:ext cx="13970000" cy="2286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487C6D-E4BE-7AD6-0CD4-4627F14A6024}"/>
              </a:ext>
            </a:extLst>
          </p:cNvPr>
          <p:cNvSpPr txBox="1"/>
          <p:nvPr/>
        </p:nvSpPr>
        <p:spPr>
          <a:xfrm>
            <a:off x="1397000" y="5842000"/>
            <a:ext cx="1346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0529B"/>
                </a:solidFill>
                <a:latin typeface="Segoe UI" panose="020B0502040204020203" pitchFamily="34" charset="0"/>
              </a:rPr>
              <a:t>API endpoints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D71739E-78F8-24F6-A160-77AF653FF032}"/>
              </a:ext>
            </a:extLst>
          </p:cNvPr>
          <p:cNvSpPr txBox="1"/>
          <p:nvPr/>
        </p:nvSpPr>
        <p:spPr>
          <a:xfrm>
            <a:off x="1397000" y="63500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POST /attendance - PUT /attendance/{session}/records - GET /attendance/{session}/records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2ABA83E-0671-A9BD-4593-8C1F7C5D8B8E}"/>
              </a:ext>
            </a:extLst>
          </p:cNvPr>
          <p:cNvSpPr txBox="1"/>
          <p:nvPr/>
        </p:nvSpPr>
        <p:spPr>
          <a:xfrm>
            <a:off x="1397000" y="71120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Perm: attendance.create - attendance.update - attendance.view</a:t>
            </a:r>
          </a:p>
        </p:txBody>
      </p:sp>
    </p:spTree>
    <p:extLst>
      <p:ext uri="{BB962C8B-B14F-4D97-AF65-F5344CB8AC3E}">
        <p14:creationId xmlns:p14="http://schemas.microsoft.com/office/powerpoint/2010/main" val="26672150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71A3A-B39D-6C2C-B040-723C4BFD99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06292F-10FC-ADD2-3C17-E25FDD721A2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1012443-CAC9-B72A-BB9D-0E5B5453D486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AAF8ED-2E5F-86B7-5428-C2B3FD4F4E5E}"/>
              </a:ext>
            </a:extLst>
          </p:cNvPr>
          <p:cNvSpPr txBox="1"/>
          <p:nvPr/>
        </p:nvSpPr>
        <p:spPr>
          <a:xfrm>
            <a:off x="1016000" y="571500"/>
            <a:ext cx="1143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00529B"/>
                </a:solidFill>
                <a:latin typeface="Segoe UI" panose="020B0502040204020203" pitchFamily="34" charset="0"/>
              </a:rPr>
              <a:t>Communication and Notifications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EADEF29-2AE8-5B27-88CC-F82CAAA5CAA1}"/>
              </a:ext>
            </a:extLst>
          </p:cNvPr>
          <p:cNvSpPr/>
          <p:nvPr/>
        </p:nvSpPr>
        <p:spPr>
          <a:xfrm>
            <a:off x="2286000" y="2032000"/>
            <a:ext cx="3810000" cy="1143000"/>
          </a:xfrm>
          <a:prstGeom prst="round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500" b="1">
                <a:solidFill>
                  <a:srgbClr val="FFFFFF"/>
                </a:solidFill>
                <a:latin typeface="Segoe UI" panose="020B0502040204020203" pitchFamily="34" charset="0"/>
              </a:rPr>
              <a:t>Admin / Teacher posts
an announcement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EDCADFC-9CAB-9CA6-D755-109DFAA4B693}"/>
              </a:ext>
            </a:extLst>
          </p:cNvPr>
          <p:cNvCxnSpPr/>
          <p:nvPr/>
        </p:nvCxnSpPr>
        <p:spPr>
          <a:xfrm>
            <a:off x="6096000" y="2603500"/>
            <a:ext cx="1016000" cy="0"/>
          </a:xfrm>
          <a:prstGeom prst="line">
            <a:avLst/>
          </a:prstGeom>
          <a:ln w="508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0FAA82-9B77-AA16-6537-187B3087ABB5}"/>
              </a:ext>
            </a:extLst>
          </p:cNvPr>
          <p:cNvSpPr/>
          <p:nvPr/>
        </p:nvSpPr>
        <p:spPr>
          <a:xfrm>
            <a:off x="7112000" y="1905000"/>
            <a:ext cx="4064000" cy="139700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System generates notifications
for the right recipients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F5A72F4-65A4-BEE1-1B55-3426D0D6D389}"/>
              </a:ext>
            </a:extLst>
          </p:cNvPr>
          <p:cNvCxnSpPr/>
          <p:nvPr/>
        </p:nvCxnSpPr>
        <p:spPr>
          <a:xfrm>
            <a:off x="11176000" y="2476500"/>
            <a:ext cx="762000" cy="0"/>
          </a:xfrm>
          <a:prstGeom prst="line">
            <a:avLst/>
          </a:prstGeom>
          <a:ln w="50800">
            <a:solidFill>
              <a:srgbClr val="00529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A03EFF2-9004-B8B6-E968-3245A6947A30}"/>
              </a:ext>
            </a:extLst>
          </p:cNvPr>
          <p:cNvSpPr/>
          <p:nvPr/>
        </p:nvSpPr>
        <p:spPr>
          <a:xfrm>
            <a:off x="11938000" y="2032000"/>
            <a:ext cx="2286000" cy="1016000"/>
          </a:xfrm>
          <a:prstGeom prst="roundRect">
            <a:avLst/>
          </a:prstGeom>
          <a:solidFill>
            <a:srgbClr val="2EA0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Segoe UI" panose="020B0502040204020203" pitchFamily="34" charset="0"/>
              </a:rPr>
              <a:t>Members read
and mark as read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B7B368-5F20-5243-8589-85B7ABF7513E}"/>
              </a:ext>
            </a:extLst>
          </p:cNvPr>
          <p:cNvSpPr txBox="1"/>
          <p:nvPr/>
        </p:nvSpPr>
        <p:spPr>
          <a:xfrm>
            <a:off x="1016000" y="3810000"/>
            <a:ext cx="1397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Announcements - notifications - unread badge - mark-read.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643BC4A-3523-0F0E-8967-DAAB84C70575}"/>
              </a:ext>
            </a:extLst>
          </p:cNvPr>
          <p:cNvSpPr/>
          <p:nvPr/>
        </p:nvSpPr>
        <p:spPr>
          <a:xfrm>
            <a:off x="1016000" y="4572000"/>
            <a:ext cx="6350000" cy="2921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61CCF22-3F44-CB09-3924-127249302F5A}"/>
              </a:ext>
            </a:extLst>
          </p:cNvPr>
          <p:cNvSpPr txBox="1"/>
          <p:nvPr/>
        </p:nvSpPr>
        <p:spPr>
          <a:xfrm>
            <a:off x="1397000" y="4826000"/>
            <a:ext cx="584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0529B"/>
                </a:solidFill>
                <a:latin typeface="Segoe UI" panose="020B0502040204020203" pitchFamily="34" charset="0"/>
              </a:rPr>
              <a:t>Announcements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88B844-6785-7088-40A5-52480C0F559D}"/>
              </a:ext>
            </a:extLst>
          </p:cNvPr>
          <p:cNvSpPr txBox="1"/>
          <p:nvPr/>
        </p:nvSpPr>
        <p:spPr>
          <a:xfrm>
            <a:off x="1397000" y="5334000"/>
            <a:ext cx="584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POST /announcements
GET /announcements
DELETE /announcements/{id}
announcements.create - update - delete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157379C-BACC-3786-15BC-526D688EC6EC}"/>
              </a:ext>
            </a:extLst>
          </p:cNvPr>
          <p:cNvSpPr/>
          <p:nvPr/>
        </p:nvSpPr>
        <p:spPr>
          <a:xfrm>
            <a:off x="7874000" y="4572000"/>
            <a:ext cx="6350000" cy="2921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F53922-1DDD-2A0B-E4AC-D53FE7DA8734}"/>
              </a:ext>
            </a:extLst>
          </p:cNvPr>
          <p:cNvSpPr txBox="1"/>
          <p:nvPr/>
        </p:nvSpPr>
        <p:spPr>
          <a:xfrm>
            <a:off x="8255000" y="4826000"/>
            <a:ext cx="5842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00529B"/>
                </a:solidFill>
                <a:latin typeface="Segoe UI" panose="020B0502040204020203" pitchFamily="34" charset="0"/>
              </a:rPr>
              <a:t>Notifications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DB010A-3FFB-77EC-A448-AB68B6B9A233}"/>
              </a:ext>
            </a:extLst>
          </p:cNvPr>
          <p:cNvSpPr txBox="1"/>
          <p:nvPr/>
        </p:nvSpPr>
        <p:spPr>
          <a:xfrm>
            <a:off x="8255000" y="5334000"/>
            <a:ext cx="5842000" cy="95410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GET /notifications/unread-count
PUT /notifications/read-all
PUT /notifications/{id}/read
notifications.view - update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15EFC9-ACEC-317A-A21E-7547515E713F}"/>
              </a:ext>
            </a:extLst>
          </p:cNvPr>
          <p:cNvSpPr txBox="1"/>
          <p:nvPr/>
        </p:nvSpPr>
        <p:spPr>
          <a:xfrm>
            <a:off x="1016000" y="7874000"/>
            <a:ext cx="1397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884C8"/>
                </a:solidFill>
                <a:latin typeface="Segoe UI" panose="020B0502040204020203" pitchFamily="34" charset="0"/>
              </a:rPr>
              <a:t>Documents can also be uploaded and downloaded by authorized users (documents.*).</a:t>
            </a:r>
          </a:p>
        </p:txBody>
      </p:sp>
    </p:spTree>
    <p:extLst>
      <p:ext uri="{BB962C8B-B14F-4D97-AF65-F5344CB8AC3E}">
        <p14:creationId xmlns:p14="http://schemas.microsoft.com/office/powerpoint/2010/main" val="964913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168E1-C852-15D6-8385-DA00D6FCF7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8A507E-B566-B2FE-A791-262558E2AC7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820C5C2-9CCD-ACEF-5EAD-5CD45671F9CC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971E66-2143-9FB8-9872-CA59F2B5AF39}"/>
              </a:ext>
            </a:extLst>
          </p:cNvPr>
          <p:cNvSpPr txBox="1"/>
          <p:nvPr/>
        </p:nvSpPr>
        <p:spPr>
          <a:xfrm>
            <a:off x="1016000" y="571500"/>
            <a:ext cx="1143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00529B"/>
                </a:solidFill>
                <a:latin typeface="Segoe UI" panose="020B0502040204020203" pitchFamily="34" charset="0"/>
              </a:rPr>
              <a:t>Reports and Analytics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66FA17F-1EBA-1E8D-BF22-757AE2576272}"/>
              </a:ext>
            </a:extLst>
          </p:cNvPr>
          <p:cNvSpPr txBox="1"/>
          <p:nvPr/>
        </p:nvSpPr>
        <p:spPr>
          <a:xfrm>
            <a:off x="1016000" y="1143000"/>
            <a:ext cx="1397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Four live dashboard reports - all gated by reports.view for every role.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6037F4A4-AFDA-C55D-7A33-706B5757D359}"/>
              </a:ext>
            </a:extLst>
          </p:cNvPr>
          <p:cNvSpPr/>
          <p:nvPr/>
        </p:nvSpPr>
        <p:spPr>
          <a:xfrm>
            <a:off x="1016000" y="1778000"/>
            <a:ext cx="3302000" cy="1778000"/>
          </a:xfrm>
          <a:prstGeom prst="round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Summary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597A947-177C-5067-A3AC-B0FBA90D621E}"/>
              </a:ext>
            </a:extLst>
          </p:cNvPr>
          <p:cNvSpPr/>
          <p:nvPr/>
        </p:nvSpPr>
        <p:spPr>
          <a:xfrm>
            <a:off x="1016000" y="3810000"/>
            <a:ext cx="3302000" cy="1778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KPI cards: students,
teachers, classes,
avg grade, attendance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88ECBF8-3CBD-6E79-F730-078AA6AA04A6}"/>
              </a:ext>
            </a:extLst>
          </p:cNvPr>
          <p:cNvSpPr/>
          <p:nvPr/>
        </p:nvSpPr>
        <p:spPr>
          <a:xfrm>
            <a:off x="4572000" y="1778000"/>
            <a:ext cx="3302000" cy="1778000"/>
          </a:xfrm>
          <a:prstGeom prst="round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Students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2573648-CDCA-5D85-14FA-2549F7D1C9F0}"/>
              </a:ext>
            </a:extLst>
          </p:cNvPr>
          <p:cNvSpPr/>
          <p:nvPr/>
        </p:nvSpPr>
        <p:spPr>
          <a:xfrm>
            <a:off x="4572000" y="3810000"/>
            <a:ext cx="3302000" cy="1778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Distribution by
class, program,
status, gender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8602C45D-A551-C2AE-209F-E07329677B61}"/>
              </a:ext>
            </a:extLst>
          </p:cNvPr>
          <p:cNvSpPr/>
          <p:nvPr/>
        </p:nvSpPr>
        <p:spPr>
          <a:xfrm>
            <a:off x="8128000" y="1778000"/>
            <a:ext cx="3302000" cy="1778000"/>
          </a:xfrm>
          <a:prstGeom prst="roundRect">
            <a:avLst/>
          </a:prstGeom>
          <a:solidFill>
            <a:srgbClr val="F299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Grades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59F83E3-D3DD-B051-1DCD-385F7EC9AC87}"/>
              </a:ext>
            </a:extLst>
          </p:cNvPr>
          <p:cNvSpPr/>
          <p:nvPr/>
        </p:nvSpPr>
        <p:spPr>
          <a:xfrm>
            <a:off x="8128000" y="3810000"/>
            <a:ext cx="3302000" cy="1778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Overall average,
pass rate, by
class and subject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F5C8EE48-6032-DBCE-57EF-1139713427B3}"/>
              </a:ext>
            </a:extLst>
          </p:cNvPr>
          <p:cNvSpPr/>
          <p:nvPr/>
        </p:nvSpPr>
        <p:spPr>
          <a:xfrm>
            <a:off x="11684000" y="1778000"/>
            <a:ext cx="3302000" cy="1778000"/>
          </a:xfrm>
          <a:prstGeom prst="roundRect">
            <a:avLst/>
          </a:prstGeom>
          <a:solidFill>
            <a:srgbClr val="2EA05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b="1">
                <a:solidFill>
                  <a:srgbClr val="FFFFFF"/>
                </a:solidFill>
                <a:latin typeface="Segoe UI" panose="020B0502040204020203" pitchFamily="34" charset="0"/>
              </a:rPr>
              <a:t>Attendance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39A56DF-2DDF-C913-24B0-B12743925577}"/>
              </a:ext>
            </a:extLst>
          </p:cNvPr>
          <p:cNvSpPr/>
          <p:nvPr/>
        </p:nvSpPr>
        <p:spPr>
          <a:xfrm>
            <a:off x="11684000" y="3810000"/>
            <a:ext cx="3302000" cy="1778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By status present /
absent / late
and per class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FF30A8A-2FC3-A0F0-47B6-F9320F25DA28}"/>
              </a:ext>
            </a:extLst>
          </p:cNvPr>
          <p:cNvSpPr txBox="1"/>
          <p:nvPr/>
        </p:nvSpPr>
        <p:spPr>
          <a:xfrm>
            <a:off x="1016000" y="5969000"/>
            <a:ext cx="1397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3884C8"/>
                </a:solidFill>
                <a:latin typeface="Segoe UI" panose="020B0502040204020203" pitchFamily="34" charset="0"/>
              </a:rPr>
              <a:t>Scoping: establishment admins see only their school; system admin sees the current (first) school.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62B953F-D9C4-E1DC-6068-CB78DD66DA1E}"/>
              </a:ext>
            </a:extLst>
          </p:cNvPr>
          <p:cNvSpPr/>
          <p:nvPr/>
        </p:nvSpPr>
        <p:spPr>
          <a:xfrm>
            <a:off x="1016000" y="6604000"/>
            <a:ext cx="13970000" cy="1270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4EFC29-EFCB-4FE1-8A9B-2C718D0BA6FE}"/>
              </a:ext>
            </a:extLst>
          </p:cNvPr>
          <p:cNvSpPr txBox="1"/>
          <p:nvPr/>
        </p:nvSpPr>
        <p:spPr>
          <a:xfrm>
            <a:off x="1397000" y="6921500"/>
            <a:ext cx="13462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GET /reports/summary - /reports/students - /reports/grades - /reports/attendance   (perm: reports.view)</a:t>
            </a:r>
          </a:p>
        </p:txBody>
      </p:sp>
    </p:spTree>
    <p:extLst>
      <p:ext uri="{BB962C8B-B14F-4D97-AF65-F5344CB8AC3E}">
        <p14:creationId xmlns:p14="http://schemas.microsoft.com/office/powerpoint/2010/main" val="16807413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8BC1A-5E6D-BAAB-60DE-D7FB2898345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B910A-9820-2000-65A1-2BDD96B45C0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E769A0-EE32-A89A-6B7D-5EA84E71B23A}"/>
              </a:ext>
            </a:extLst>
          </p:cNvPr>
          <p:cNvSpPr/>
          <p:nvPr/>
        </p:nvSpPr>
        <p:spPr>
          <a:xfrm>
            <a:off x="0" y="0"/>
            <a:ext cx="254000" cy="8712200"/>
          </a:xfrm>
          <a:prstGeom prst="rect">
            <a:avLst/>
          </a:prstGeom>
          <a:solidFill>
            <a:srgbClr val="00529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1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A6D990-9604-D89C-1A4E-59E7FA4D1965}"/>
              </a:ext>
            </a:extLst>
          </p:cNvPr>
          <p:cNvSpPr txBox="1"/>
          <p:nvPr/>
        </p:nvSpPr>
        <p:spPr>
          <a:xfrm>
            <a:off x="1016000" y="571500"/>
            <a:ext cx="10160000" cy="5847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3200" b="1">
                <a:solidFill>
                  <a:srgbClr val="00529B"/>
                </a:solidFill>
                <a:latin typeface="Segoe UI" panose="020B0502040204020203" pitchFamily="34" charset="0"/>
              </a:rPr>
              <a:t>Security and Data Model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B7B755E-BB39-3252-E337-C36CF3FE6D3C}"/>
              </a:ext>
            </a:extLst>
          </p:cNvPr>
          <p:cNvSpPr/>
          <p:nvPr/>
        </p:nvSpPr>
        <p:spPr>
          <a:xfrm>
            <a:off x="1016000" y="1524000"/>
            <a:ext cx="6858000" cy="6350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DE0042-3FF4-D080-3122-903026F48E5D}"/>
              </a:ext>
            </a:extLst>
          </p:cNvPr>
          <p:cNvSpPr txBox="1"/>
          <p:nvPr/>
        </p:nvSpPr>
        <p:spPr>
          <a:xfrm>
            <a:off x="1397000" y="1778000"/>
            <a:ext cx="6350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3238"/>
                </a:solidFill>
                <a:latin typeface="Segoe UI" panose="020B0502040204020203" pitchFamily="34" charset="0"/>
              </a:rPr>
              <a:t>Security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5701C1-F2F9-B1DF-3748-6746370EBA4D}"/>
              </a:ext>
            </a:extLst>
          </p:cNvPr>
          <p:cNvSpPr txBox="1"/>
          <p:nvPr/>
        </p:nvSpPr>
        <p:spPr>
          <a:xfrm>
            <a:off x="1397000" y="24130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RBAC permissions on every route (CheckPermission)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1825D0-A78B-F58D-8961-B37A6E3FAA5A}"/>
              </a:ext>
            </a:extLst>
          </p:cNvPr>
          <p:cNvSpPr txBox="1"/>
          <p:nvPr/>
        </p:nvSpPr>
        <p:spPr>
          <a:xfrm>
            <a:off x="1397000" y="29464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Sanctum token authentication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07637B5-E251-8F64-C66A-8196486F8353}"/>
              </a:ext>
            </a:extLst>
          </p:cNvPr>
          <p:cNvSpPr txBox="1"/>
          <p:nvPr/>
        </p:nvSpPr>
        <p:spPr>
          <a:xfrm>
            <a:off x="1397000" y="34798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Passwords hashed (User model cast)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17B0ED5-1E2B-2492-93B3-C96B1B553E03}"/>
              </a:ext>
            </a:extLst>
          </p:cNvPr>
          <p:cNvSpPr txBox="1"/>
          <p:nvPr/>
        </p:nvSpPr>
        <p:spPr>
          <a:xfrm>
            <a:off x="1397000" y="40132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Login throttled: 5 / min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2A3121-9D7A-D3F8-FE25-2AA51CF206E4}"/>
              </a:ext>
            </a:extLst>
          </p:cNvPr>
          <p:cNvSpPr txBox="1"/>
          <p:nvPr/>
        </p:nvSpPr>
        <p:spPr>
          <a:xfrm>
            <a:off x="1397000" y="45466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Forgot-password throttled: 3 / 5 min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BEBDB3-667C-901B-8C47-330AA3F8439A}"/>
              </a:ext>
            </a:extLst>
          </p:cNvPr>
          <p:cNvSpPr txBox="1"/>
          <p:nvPr/>
        </p:nvSpPr>
        <p:spPr>
          <a:xfrm>
            <a:off x="1397000" y="50800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Cross-school isolation (404 for foreign data)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0B0F713-F6AD-4F7A-8AB0-5309EEBEF89B}"/>
              </a:ext>
            </a:extLst>
          </p:cNvPr>
          <p:cNvSpPr txBox="1"/>
          <p:nvPr/>
        </p:nvSpPr>
        <p:spPr>
          <a:xfrm>
            <a:off x="1397000" y="56134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263238"/>
                </a:solidFill>
                <a:latin typeface="Segoe UI" panose="020B0502040204020203" pitchFamily="34" charset="0"/>
              </a:rPr>
              <a:t>- Role data scoping (student sees only self)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73892D2-E193-2F21-C143-B150A98DFCAA}"/>
              </a:ext>
            </a:extLst>
          </p:cNvPr>
          <p:cNvSpPr/>
          <p:nvPr/>
        </p:nvSpPr>
        <p:spPr>
          <a:xfrm>
            <a:off x="8382000" y="1524000"/>
            <a:ext cx="5969000" cy="6350000"/>
          </a:xfrm>
          <a:prstGeom prst="roundRect">
            <a:avLst/>
          </a:prstGeom>
          <a:solidFill>
            <a:srgbClr val="F4F7FB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7000" tIns="76200" rIns="127000" bIns="76200" rtlCol="0" anchor="ctr"/>
          <a:lstStyle/>
          <a:p>
            <a:pPr algn="ctr"/>
            <a:endParaRPr lang="en-US" sz="800" b="1">
              <a:solidFill>
                <a:srgbClr val="FFFFFF"/>
              </a:solidFill>
              <a:latin typeface="Segoe UI" panose="020B0502040204020203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1E9D4B1-FD3E-96C7-C95D-181DF8589E3A}"/>
              </a:ext>
            </a:extLst>
          </p:cNvPr>
          <p:cNvSpPr txBox="1"/>
          <p:nvPr/>
        </p:nvSpPr>
        <p:spPr>
          <a:xfrm>
            <a:off x="8763000" y="1778000"/>
            <a:ext cx="5334000" cy="38100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b="1">
                <a:solidFill>
                  <a:srgbClr val="263238"/>
                </a:solidFill>
                <a:latin typeface="Segoe UI" panose="020B0502040204020203" pitchFamily="34" charset="0"/>
              </a:rPr>
              <a:t>Data model (30 migrations)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9BA27BA-6AF5-9778-C408-F8942A3C4B9B}"/>
              </a:ext>
            </a:extLst>
          </p:cNvPr>
          <p:cNvSpPr txBox="1"/>
          <p:nvPr/>
        </p:nvSpPr>
        <p:spPr>
          <a:xfrm>
            <a:off x="8763000" y="24130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users (role) -&gt; role_permission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0812D0F-EB01-AE93-D7C8-F66E1B93F247}"/>
              </a:ext>
            </a:extLst>
          </p:cNvPr>
          <p:cNvSpPr txBox="1"/>
          <p:nvPr/>
        </p:nvSpPr>
        <p:spPr>
          <a:xfrm>
            <a:off x="8763000" y="29464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schools -&gt; academic_years -&gt; programs -&gt; classes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34CD73-9C38-C9A8-9D6B-8D819882E03C}"/>
              </a:ext>
            </a:extLst>
          </p:cNvPr>
          <p:cNvSpPr txBox="1"/>
          <p:nvPr/>
        </p:nvSpPr>
        <p:spPr>
          <a:xfrm>
            <a:off x="8763000" y="34798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subjects -&gt; teacher_subject_assignments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E742CF-B485-63A8-1159-29D09ACC57D7}"/>
              </a:ext>
            </a:extLst>
          </p:cNvPr>
          <p:cNvSpPr txBox="1"/>
          <p:nvPr/>
        </p:nvSpPr>
        <p:spPr>
          <a:xfrm>
            <a:off x="8763000" y="40132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classes -&gt; rooms -&gt; schedules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2698D43-DBD2-E546-0616-FF83B6CB6066}"/>
              </a:ext>
            </a:extLst>
          </p:cNvPr>
          <p:cNvSpPr txBox="1"/>
          <p:nvPr/>
        </p:nvSpPr>
        <p:spPr>
          <a:xfrm>
            <a:off x="8763000" y="45466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students -&gt; guardians -&gt; enrollments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9CC978-8EAF-5779-62DA-44A83E25F79A}"/>
              </a:ext>
            </a:extLst>
          </p:cNvPr>
          <p:cNvSpPr txBox="1"/>
          <p:nvPr/>
        </p:nvSpPr>
        <p:spPr>
          <a:xfrm>
            <a:off x="8763000" y="50800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teachers -&gt; teacher_subject_assignments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83B99FE-1247-0658-EBB4-9F7323B99514}"/>
              </a:ext>
            </a:extLst>
          </p:cNvPr>
          <p:cNvSpPr txBox="1"/>
          <p:nvPr/>
        </p:nvSpPr>
        <p:spPr>
          <a:xfrm>
            <a:off x="8763000" y="56134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assessments -&gt; grades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54D7AA9-4FDF-2439-355A-50877E8D4915}"/>
              </a:ext>
            </a:extLst>
          </p:cNvPr>
          <p:cNvSpPr txBox="1"/>
          <p:nvPr/>
        </p:nvSpPr>
        <p:spPr>
          <a:xfrm>
            <a:off x="8763000" y="61468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attendance_sessions -&gt; attendance_records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42A16AE-7DD3-2159-B0CC-094E39166886}"/>
              </a:ext>
            </a:extLst>
          </p:cNvPr>
          <p:cNvSpPr txBox="1"/>
          <p:nvPr/>
        </p:nvSpPr>
        <p:spPr>
          <a:xfrm>
            <a:off x="8763000" y="66802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announcements -&gt; user_notifications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E80A49-0091-F457-A023-4BAAB0001777}"/>
              </a:ext>
            </a:extLst>
          </p:cNvPr>
          <p:cNvSpPr txBox="1"/>
          <p:nvPr/>
        </p:nvSpPr>
        <p:spPr>
          <a:xfrm>
            <a:off x="8763000" y="7213600"/>
            <a:ext cx="5461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>
                <a:solidFill>
                  <a:srgbClr val="263238"/>
                </a:solidFill>
                <a:latin typeface="Segoe UI" panose="020B0502040204020203" pitchFamily="34" charset="0"/>
              </a:rPr>
              <a:t>documents -&gt; audit_logs</a:t>
            </a:r>
          </a:p>
        </p:txBody>
      </p:sp>
    </p:spTree>
    <p:extLst>
      <p:ext uri="{BB962C8B-B14F-4D97-AF65-F5344CB8AC3E}">
        <p14:creationId xmlns:p14="http://schemas.microsoft.com/office/powerpoint/2010/main" val="4330431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DA0EE4-AB89-47F1-19E6-30B4455FE1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1357B2-27D8-F8EB-AFE8-F73180B8A80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D24137-DDD4-0F67-4325-647C374120D5}"/>
              </a:ext>
            </a:extLst>
          </p:cNvPr>
          <p:cNvSpPr/>
          <p:nvPr/>
        </p:nvSpPr>
        <p:spPr>
          <a:xfrm>
            <a:off x="0" y="0"/>
            <a:ext cx="15483839" cy="152400"/>
          </a:xfrm>
          <a:prstGeom prst="rect">
            <a:avLst/>
          </a:prstGeom>
          <a:solidFill>
            <a:srgbClr val="00A99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5EC4E-4430-78A3-2CB5-0DA3BE127494}"/>
              </a:ext>
            </a:extLst>
          </p:cNvPr>
          <p:cNvSpPr txBox="1"/>
          <p:nvPr/>
        </p:nvSpPr>
        <p:spPr>
          <a:xfrm>
            <a:off x="3302000" y="2540000"/>
            <a:ext cx="8890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4000" b="1">
                <a:solidFill>
                  <a:srgbClr val="00529B"/>
                </a:solidFill>
                <a:latin typeface="Segoe UI" panose="020B0502040204020203" pitchFamily="34" charset="0"/>
              </a:rPr>
              <a:t>Ready to use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7F9945C-4E82-DE19-FD7E-B1FCCF27D89B}"/>
              </a:ext>
            </a:extLst>
          </p:cNvPr>
          <p:cNvSpPr txBox="1"/>
          <p:nvPr/>
        </p:nvSpPr>
        <p:spPr>
          <a:xfrm>
            <a:off x="3302000" y="3302000"/>
            <a:ext cx="88900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>
                <a:solidFill>
                  <a:srgbClr val="263238"/>
                </a:solidFill>
                <a:latin typeface="Segoe UI" panose="020B0502040204020203" pitchFamily="34" charset="0"/>
              </a:rPr>
              <a:t>Everything runs locally with one backend and one frontend.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CB6681-E205-AF55-62B6-E0D13BB73C98}"/>
              </a:ext>
            </a:extLst>
          </p:cNvPr>
          <p:cNvSpPr txBox="1"/>
          <p:nvPr/>
        </p:nvSpPr>
        <p:spPr>
          <a:xfrm>
            <a:off x="4826000" y="41910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884C8"/>
                </a:solidFill>
                <a:latin typeface="Segoe UI" panose="020B0502040204020203" pitchFamily="34" charset="0"/>
              </a:rPr>
              <a:t>admin@example.com  /  password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9C4BCD-9F0E-65DD-F2D5-423639ADB7FD}"/>
              </a:ext>
            </a:extLst>
          </p:cNvPr>
          <p:cNvSpPr txBox="1"/>
          <p:nvPr/>
        </p:nvSpPr>
        <p:spPr>
          <a:xfrm>
            <a:off x="4826000" y="46990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884C8"/>
                </a:solidFill>
                <a:latin typeface="Segoe UI" panose="020B0502040204020203" pitchFamily="34" charset="0"/>
              </a:rPr>
              <a:t>admin.establishment@example.com  /  password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C8BACF-58A1-4775-160E-12E0F2060AC4}"/>
              </a:ext>
            </a:extLst>
          </p:cNvPr>
          <p:cNvSpPr txBox="1"/>
          <p:nvPr/>
        </p:nvSpPr>
        <p:spPr>
          <a:xfrm>
            <a:off x="4826000" y="52070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884C8"/>
                </a:solidFill>
                <a:latin typeface="Segoe UI" panose="020B0502040204020203" pitchFamily="34" charset="0"/>
              </a:rPr>
              <a:t>teacher@example.com  /  password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DF391A6-D49C-3B5C-A424-031EC3C5985F}"/>
              </a:ext>
            </a:extLst>
          </p:cNvPr>
          <p:cNvSpPr txBox="1"/>
          <p:nvPr/>
        </p:nvSpPr>
        <p:spPr>
          <a:xfrm>
            <a:off x="4826000" y="5715000"/>
            <a:ext cx="6350000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500">
                <a:solidFill>
                  <a:srgbClr val="3884C8"/>
                </a:solidFill>
                <a:latin typeface="Segoe UI" panose="020B0502040204020203" pitchFamily="34" charset="0"/>
              </a:rPr>
              <a:t>student@example.com  /  password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8DC6613-BB96-FD63-34C5-3F3FF8601F8C}"/>
              </a:ext>
            </a:extLst>
          </p:cNvPr>
          <p:cNvSpPr txBox="1"/>
          <p:nvPr/>
        </p:nvSpPr>
        <p:spPr>
          <a:xfrm>
            <a:off x="3302000" y="6858000"/>
            <a:ext cx="8890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600" b="1">
                <a:solidFill>
                  <a:srgbClr val="263238"/>
                </a:solidFill>
                <a:latin typeface="Segoe UI" panose="020B0502040204020203" pitchFamily="34" charset="0"/>
              </a:rPr>
              <a:t>Open http://localhost:3000 and explore every workflow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51ACCA0-3762-0CDA-321B-6D95AE9967BE}"/>
              </a:ext>
            </a:extLst>
          </p:cNvPr>
          <p:cNvSpPr txBox="1"/>
          <p:nvPr/>
        </p:nvSpPr>
        <p:spPr>
          <a:xfrm>
            <a:off x="3302000" y="7620000"/>
            <a:ext cx="8890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400" b="1">
                <a:solidFill>
                  <a:srgbClr val="00A99D"/>
                </a:solidFill>
                <a:latin typeface="Segoe UI" panose="020B0502040204020203" pitchFamily="34" charset="0"/>
              </a:rPr>
              <a:t>BTS School Manager</a:t>
            </a:r>
          </a:p>
        </p:txBody>
      </p:sp>
    </p:spTree>
    <p:extLst>
      <p:ext uri="{BB962C8B-B14F-4D97-AF65-F5344CB8AC3E}">
        <p14:creationId xmlns:p14="http://schemas.microsoft.com/office/powerpoint/2010/main" val="1228799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1104</Words>
  <Application>Microsoft Office PowerPoint</Application>
  <PresentationFormat>Custom</PresentationFormat>
  <Paragraphs>195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LAHCEN</dc:creator>
  <cp:lastModifiedBy>LAHCEN</cp:lastModifiedBy>
  <cp:revision>1</cp:revision>
  <dcterms:created xsi:type="dcterms:W3CDTF">2026-09-03T20:28:04Z</dcterms:created>
  <dcterms:modified xsi:type="dcterms:W3CDTF">2026-09-03T20:28:05Z</dcterms:modified>
</cp:coreProperties>
</file>