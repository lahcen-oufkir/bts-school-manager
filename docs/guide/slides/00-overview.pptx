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EEF2FF"/>
                </a:solidFill>
                <a:latin typeface="Calibri"/>
              </a:rPr>
              <a:t>BTS SCHOOL MANAGER — PHASE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200" b="1" i="0">
                <a:solidFill>
                  <a:srgbClr val="FFFFFF"/>
                </a:solidFill>
                <a:latin typeface="Calibri"/>
              </a:rPr>
              <a:t>Product Foundation &amp;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E0E7FF"/>
                </a:solidFill>
                <a:latin typeface="Calibri"/>
              </a:rPr>
              <a:t>A beginner-friendly tour of what the app is, who uses it, and how it is built.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058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A5B4FC"/>
                </a:solidFill>
              </a:rPr>
              <a:t>●  </a:t>
            </a:r>
            <a:r>
              <a:rPr b="0" sz="1600">
                <a:solidFill>
                  <a:srgbClr val="D6E0FF"/>
                </a:solidFill>
                <a:latin typeface="Calibri"/>
              </a:rPr>
              <a:t>Central web app for BTS vocational schools in Morocco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A5B4FC"/>
                </a:solidFill>
              </a:rPr>
              <a:t>●  </a:t>
            </a:r>
            <a:r>
              <a:rPr b="0" sz="1600">
                <a:solidFill>
                  <a:srgbClr val="D6E0FF"/>
                </a:solidFill>
                <a:latin typeface="Calibri"/>
              </a:rPr>
              <a:t>4 roles: system admin, establishment admin, teacher, student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A5B4FC"/>
                </a:solidFill>
              </a:rPr>
              <a:t>●  </a:t>
            </a:r>
            <a:r>
              <a:rPr b="0" sz="1600">
                <a:solidFill>
                  <a:srgbClr val="D6E0FF"/>
                </a:solidFill>
                <a:latin typeface="Calibri"/>
              </a:rPr>
              <a:t>Permissions gate every action (module.action)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A5B4FC"/>
                </a:solidFill>
              </a:rPr>
              <a:t>●  </a:t>
            </a:r>
            <a:r>
              <a:rPr b="0" sz="1600">
                <a:solidFill>
                  <a:srgbClr val="D6E0FF"/>
                </a:solidFill>
                <a:latin typeface="Calibri"/>
              </a:rPr>
              <a:t>Stack: Next.js 16 + Laravel 13 + PostgreSQL + Redis + Docker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A5B4FC"/>
                </a:solidFill>
              </a:rPr>
              <a:t>●  </a:t>
            </a:r>
            <a:r>
              <a:rPr b="0" sz="1600">
                <a:solidFill>
                  <a:srgbClr val="D6E0FF"/>
                </a:solidFill>
                <a:latin typeface="Calibri"/>
              </a:rPr>
              <a:t>The guide’s starting point before any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EF2FF"/>
                </a:solidFill>
                <a:latin typeface="Calibri"/>
              </a:rPr>
              <a:t>PHASE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What the application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8288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EF2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700" b="1">
                <a:solidFill>
                  <a:srgbClr val="4F46E5"/>
                </a:solidFill>
              </a:rPr>
              <a:t>●  </a:t>
            </a:r>
            <a:r>
              <a:rPr b="0" sz="1700">
                <a:solidFill>
                  <a:srgbClr val="475569"/>
                </a:solidFill>
                <a:latin typeface="Calibri"/>
              </a:rPr>
              <a:t>Enroll and track students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700" b="1">
                <a:solidFill>
                  <a:srgbClr val="4F46E5"/>
                </a:solidFill>
              </a:rPr>
              <a:t>●  </a:t>
            </a:r>
            <a:r>
              <a:rPr b="0" sz="1700">
                <a:solidFill>
                  <a:srgbClr val="475569"/>
                </a:solidFill>
                <a:latin typeface="Calibri"/>
              </a:rPr>
              <a:t>Organize teachers, programs, classes, subjects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700" b="1">
                <a:solidFill>
                  <a:srgbClr val="4F46E5"/>
                </a:solidFill>
              </a:rPr>
              <a:t>●  </a:t>
            </a:r>
            <a:r>
              <a:rPr b="0" sz="1700">
                <a:solidFill>
                  <a:srgbClr val="475569"/>
                </a:solidFill>
                <a:latin typeface="Calibri"/>
              </a:rPr>
              <a:t>Record grades and attendance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700" b="1">
                <a:solidFill>
                  <a:srgbClr val="4F46E5"/>
                </a:solidFill>
              </a:rPr>
              <a:t>●  </a:t>
            </a:r>
            <a:r>
              <a:rPr b="0" sz="1700">
                <a:solidFill>
                  <a:srgbClr val="475569"/>
                </a:solidFill>
                <a:latin typeface="Calibri"/>
              </a:rPr>
              <a:t>Build weekly timetables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700" b="1">
                <a:solidFill>
                  <a:srgbClr val="4F46E5"/>
                </a:solidFill>
              </a:rPr>
              <a:t>●  </a:t>
            </a:r>
            <a:r>
              <a:rPr b="0" sz="1700">
                <a:solidFill>
                  <a:srgbClr val="475569"/>
                </a:solidFill>
                <a:latin typeface="Calibri"/>
              </a:rPr>
              <a:t>Send announcements &amp; notifications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700" b="1">
                <a:solidFill>
                  <a:srgbClr val="4F46E5"/>
                </a:solidFill>
              </a:rPr>
              <a:t>●  </a:t>
            </a:r>
            <a:r>
              <a:rPr b="0" sz="1700">
                <a:solidFill>
                  <a:srgbClr val="475569"/>
                </a:solidFill>
                <a:latin typeface="Calibri"/>
              </a:rPr>
              <a:t>Store and share documents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700" b="1">
                <a:solidFill>
                  <a:srgbClr val="4F46E5"/>
                </a:solidFill>
              </a:rPr>
              <a:t>●  </a:t>
            </a:r>
            <a:r>
              <a:rPr b="0" sz="1700">
                <a:solidFill>
                  <a:srgbClr val="475569"/>
                </a:solidFill>
                <a:latin typeface="Calibri"/>
              </a:rPr>
              <a:t>Produce statistics &amp; reports for managers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737360"/>
            <a:ext cx="5029200" cy="4206240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192024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3730A3"/>
                </a:solidFill>
                <a:latin typeface="Calibri"/>
              </a:rPr>
              <a:t>The big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377440"/>
            <a:ext cx="448056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  <a:latin typeface="Calibri"/>
              </a:rPr>
              <a:t>Before: paperwork and separate tools.
After: one secure, centralised
platform serving MANY schools at once
(a "multi-establishment" system).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EF2FF"/>
                </a:solidFill>
                <a:latin typeface="Calibri"/>
              </a:rPr>
              <a:t>PHASE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Roles &amp; Permissions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8288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EF2FF"/>
                </a:solidFill>
                <a:latin typeface="Calibri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11064240" cy="8229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73152" cy="8229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19072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3730A3"/>
                </a:solidFill>
                <a:latin typeface="Calibri"/>
              </a:rPr>
              <a:t>admin_system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719072"/>
            <a:ext cx="7132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  <a:latin typeface="Calibri"/>
              </a:rPr>
              <a:t>Platform owner — manages all schools &amp; users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06040"/>
            <a:ext cx="11064240" cy="8229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606040"/>
            <a:ext cx="73152" cy="8229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679192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3730A3"/>
                </a:solidFill>
                <a:latin typeface="Calibri"/>
              </a:rPr>
              <a:t>admin_establishment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679192"/>
            <a:ext cx="7132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  <a:latin typeface="Calibri"/>
              </a:rPr>
              <a:t>Runs one school end-to-end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566160"/>
            <a:ext cx="11064240" cy="8229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566160"/>
            <a:ext cx="73152" cy="8229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639312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3730A3"/>
                </a:solidFill>
                <a:latin typeface="Calibri"/>
              </a:rPr>
              <a:t>teacher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639312"/>
            <a:ext cx="7132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  <a:latin typeface="Calibri"/>
              </a:rPr>
              <a:t>Enters grades, takes attendance, sees timetable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526280"/>
            <a:ext cx="11064240" cy="8229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526280"/>
            <a:ext cx="73152" cy="8229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599432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3730A3"/>
                </a:solidFill>
                <a:latin typeface="Calibri"/>
              </a:rPr>
              <a:t>student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599432"/>
            <a:ext cx="7132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  <a:latin typeface="Calibri"/>
              </a:rPr>
              <a:t>Sees own profile, grades, attendance, announcements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8064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4F46E5"/>
                </a:solidFill>
                <a:latin typeface="Calibri"/>
              </a:rPr>
              <a:t>Permissions are formatted as module.action (e.g. students.create) and are enforced by the SERVER, not just hidden buttons.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EF2FF"/>
                </a:solidFill>
                <a:latin typeface="Calibri"/>
              </a:rPr>
              <a:t>PHASE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architecture (plain English)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8288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EF2FF"/>
                </a:solidFill>
                <a:latin typeface="Calibri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1554480"/>
            <a:ext cx="777240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1627632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3730A3"/>
                </a:solidFill>
                <a:latin typeface="Calibri"/>
              </a:rPr>
              <a:t>Your browser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96596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121408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94A3B8"/>
                </a:solidFill>
                <a:latin typeface="Calibri"/>
              </a:rPr>
              <a:t>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94560" y="2377440"/>
            <a:ext cx="777240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450592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3730A3"/>
                </a:solidFill>
                <a:latin typeface="Calibri"/>
              </a:rPr>
              <a:t>Next.js 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7889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The waiter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944368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94A3B8"/>
                </a:solidFill>
                <a:latin typeface="Calibri"/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94560" y="3200400"/>
            <a:ext cx="777240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8880" y="3273552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3730A3"/>
                </a:solidFill>
                <a:latin typeface="Calibri"/>
              </a:rPr>
              <a:t>Laravel 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36118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The kitchen — all rules + 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767328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94A3B8"/>
                </a:solidFill>
                <a:latin typeface="Calibri"/>
              </a:rPr>
              <a:t>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94560" y="4023360"/>
            <a:ext cx="7772400" cy="777240"/>
          </a:xfrm>
          <a:prstGeom prst="rect">
            <a:avLst/>
          </a:prstGeom>
          <a:solidFill>
            <a:srgbClr val="94A3B8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68880" y="4096512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4F46E5"/>
                </a:solidFill>
                <a:latin typeface="Calibri"/>
              </a:rPr>
              <a:t>PostgreSQL · Redis · Files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443484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The pantry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590288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94A3B8"/>
                </a:solidFill>
                <a:latin typeface="Calibri"/>
              </a:rPr>
              <a:t>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12648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4F46E5"/>
                </a:solidFill>
                <a:latin typeface="Calibri"/>
              </a:rPr>
              <a:t>Golden rule: the frontend NEVER touches the database directly — everything goes through the Laravel backend.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EF2FF"/>
                </a:solidFill>
                <a:latin typeface="Calibri"/>
              </a:rPr>
              <a:t>PHASE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11 phases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8288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EF2FF"/>
                </a:solidFill>
                <a:latin typeface="Calibri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5440680" cy="777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73152" cy="7772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792224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  <a:latin typeface="Calibri"/>
              </a:rPr>
              <a:t>1. Technical foundation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645920"/>
            <a:ext cx="5440680" cy="777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645920"/>
            <a:ext cx="73152" cy="7772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792224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  <a:latin typeface="Calibri"/>
              </a:rPr>
              <a:t>2. Administration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560320"/>
            <a:ext cx="5440680" cy="777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560320"/>
            <a:ext cx="73152" cy="7772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706624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  <a:latin typeface="Calibri"/>
              </a:rPr>
              <a:t>3. Students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2560320"/>
            <a:ext cx="5440680" cy="777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2560320"/>
            <a:ext cx="73152" cy="7772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706624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  <a:latin typeface="Calibri"/>
              </a:rPr>
              <a:t>4. Teachers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474720"/>
            <a:ext cx="5440680" cy="777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474720"/>
            <a:ext cx="73152" cy="7772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3621024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  <a:latin typeface="Calibri"/>
              </a:rPr>
              <a:t>5. Grades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474720"/>
            <a:ext cx="5440680" cy="777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3474720"/>
            <a:ext cx="73152" cy="7772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2" y="3621024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  <a:latin typeface="Calibri"/>
              </a:rPr>
              <a:t>6. Attendance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389120"/>
            <a:ext cx="5440680" cy="777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389120"/>
            <a:ext cx="73152" cy="7772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4535424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  <a:latin typeface="Calibri"/>
              </a:rPr>
              <a:t>7. Timetables &amp; rooms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4389120"/>
            <a:ext cx="5440680" cy="777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72200" y="4389120"/>
            <a:ext cx="73152" cy="7772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8232" y="4535424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  <a:latin typeface="Calibri"/>
              </a:rPr>
              <a:t>8. Communication &amp; documents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303520"/>
            <a:ext cx="5440680" cy="777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5303520"/>
            <a:ext cx="73152" cy="7772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" y="5449824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  <a:latin typeface="Calibri"/>
              </a:rPr>
              <a:t>9. Reports &amp; analytics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5303520"/>
            <a:ext cx="5440680" cy="777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72200" y="5303520"/>
            <a:ext cx="73152" cy="7772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28232" y="5449824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  <a:latin typeface="Calibri"/>
              </a:rPr>
              <a:t>10. Production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4F46E5"/>
                </a:solidFill>
                <a:latin typeface="Calibri"/>
              </a:rPr>
              <a:t>Demo login: admin@example.com / password (system admin sees everything).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E0E7FF"/>
                </a:solidFill>
                <a:latin typeface="Calibri"/>
              </a:rPr>
              <a:t>Next up:  Phase 1 — Technical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EEF2FF"/>
                </a:solidFill>
                <a:latin typeface="Calibri"/>
              </a:rPr>
              <a:t>Open 01-phase1-foundation to continue.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4465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7D2FE"/>
                </a:solidFill>
                <a:latin typeface="Calibri"/>
              </a:rPr>
              <a:t>BTS School Manager — Complete Guide (English)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