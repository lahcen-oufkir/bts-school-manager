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Calibri"/>
              </a:rPr>
              <a:t>PHASE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Reports &amp;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Turns raw data into useful statistics for managers.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Summary KPIs (counts, averages, rates)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Student distribution (status, gender, class, program)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Grade averages &amp; pass rate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Attendance rates by class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School-scoped + academic-year filter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Reports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2</a:t>
            </a:r>
          </a:p>
        </p:txBody>
      </p:sp>
      <p:pic>
        <p:nvPicPr>
          <p:cNvPr id="7" name="Picture 6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00200"/>
            <a:ext cx="7053573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604418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Reports (/dashboard/reports)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four analytics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4F46E5"/>
                </a:solidFill>
              </a:rPr>
              <a:t>●  </a:t>
            </a:r>
            <a:r>
              <a:rPr b="0" sz="1600">
                <a:solidFill>
                  <a:srgbClr val="475569"/>
                </a:solidFill>
                <a:latin typeface="Calibri"/>
              </a:rPr>
              <a:t>/reports/summary     — counts + averages + rates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4F46E5"/>
                </a:solidFill>
              </a:rPr>
              <a:t>●  </a:t>
            </a:r>
            <a:r>
              <a:rPr b="0" sz="1600">
                <a:solidFill>
                  <a:srgbClr val="475569"/>
                </a:solidFill>
                <a:latin typeface="Calibri"/>
              </a:rPr>
              <a:t>/reports/students    — by status / gender / class / program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4F46E5"/>
                </a:solidFill>
              </a:rPr>
              <a:t>●  </a:t>
            </a:r>
            <a:r>
              <a:rPr b="0" sz="1600">
                <a:solidFill>
                  <a:srgbClr val="475569"/>
                </a:solidFill>
                <a:latin typeface="Calibri"/>
              </a:rPr>
              <a:t>/reports/grades      — average, pass rate (≥ 10), by class/subject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4F46E5"/>
                </a:solidFill>
              </a:rPr>
              <a:t>●  </a:t>
            </a:r>
            <a:r>
              <a:rPr b="0" sz="1600">
                <a:solidFill>
                  <a:srgbClr val="475569"/>
                </a:solidFill>
                <a:latin typeface="Calibri"/>
              </a:rPr>
              <a:t>/reports/attendance  — total, rate, by status and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40480"/>
            <a:ext cx="7132320" cy="2103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6675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6E0FF"/>
                </a:solidFill>
                <a:latin typeface="Calibri"/>
              </a:rPr>
              <a:t>private function resolveSchoolId(Request $request): int {
    if ($request-&gt;user()-&gt;isEstablishmentAdmin()) {
        return $user-&gt;school_id;      // forced to own school
    }
    return (int) ($request-&gt;input('school_id') ?: $user-&gt;school_id);
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Next up:  Phase 10 —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2FF"/>
                </a:solidFill>
                <a:latin typeface="Calibri"/>
              </a:rPr>
              <a:t>Open 10-phase10-production to continue.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7D2FE"/>
                </a:solidFill>
                <a:latin typeface="Calibri"/>
              </a:rPr>
              <a:t>BTS School Manager — Complete Guide (English)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